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7" d="100"/>
          <a:sy n="87" d="100"/>
        </p:scale>
        <p:origin x="499" y="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92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971453"/>
            <a:ext cx="10362895" cy="1492716"/>
          </a:xfrm>
          <a:prstGeom prst="rect">
            <a:avLst/>
          </a:prstGeom>
          <a:noFill/>
        </p:spPr>
        <p:txBody>
          <a:bodyPr wrap="square">
            <a:spAutoFit/>
          </a:bodyPr>
          <a:lstStyle/>
          <a:p>
            <a:pPr algn="ctr">
              <a:defRPr sz="4000" b="1">
                <a:solidFill>
                  <a:srgbClr val="FFFFFF"/>
                </a:solidFill>
                <a:latin typeface="Arial"/>
              </a:defRPr>
            </a:pPr>
            <a:r>
              <a:rPr dirty="0"/>
              <a:t>SISTEM PEN</a:t>
            </a:r>
            <a:r>
              <a:rPr lang="en-US" dirty="0"/>
              <a:t>UNJANG</a:t>
            </a:r>
            <a:r>
              <a:rPr dirty="0"/>
              <a:t> KEPUTUSAN</a:t>
            </a:r>
          </a:p>
          <a:p>
            <a:pPr algn="ctr">
              <a:spcBef>
                <a:spcPts val="1200"/>
              </a:spcBef>
              <a:defRPr sz="1800" b="0">
                <a:solidFill>
                  <a:srgbClr val="00D2C4"/>
                </a:solidFill>
                <a:latin typeface="Arial"/>
              </a:defRPr>
            </a:pPr>
            <a:r>
              <a:rPr b="1" dirty="0" err="1">
                <a:solidFill>
                  <a:schemeClr val="bg2"/>
                </a:solidFill>
                <a:latin typeface="Aptos Narrow" panose="020B0004020202020204" pitchFamily="34" charset="0"/>
                <a:cs typeface="Arial" panose="020B0604020202020204" pitchFamily="34" charset="0"/>
              </a:rPr>
              <a:t>Implementasi</a:t>
            </a:r>
            <a:r>
              <a:rPr b="1" dirty="0">
                <a:solidFill>
                  <a:schemeClr val="bg2"/>
                </a:solidFill>
                <a:latin typeface="Aptos Narrow" panose="020B0004020202020204" pitchFamily="34" charset="0"/>
                <a:cs typeface="Arial" panose="020B0604020202020204" pitchFamily="34" charset="0"/>
              </a:rPr>
              <a:t> Metode Simple Additive Weighting (SAW) </a:t>
            </a:r>
            <a:r>
              <a:rPr b="1" dirty="0" err="1">
                <a:solidFill>
                  <a:schemeClr val="bg2"/>
                </a:solidFill>
                <a:latin typeface="Aptos Narrow" panose="020B0004020202020204" pitchFamily="34" charset="0"/>
                <a:cs typeface="Arial" panose="020B0604020202020204" pitchFamily="34" charset="0"/>
              </a:rPr>
              <a:t>untuk</a:t>
            </a:r>
            <a:r>
              <a:rPr b="1" dirty="0">
                <a:solidFill>
                  <a:schemeClr val="bg2"/>
                </a:solidFill>
                <a:latin typeface="Aptos Narrow" panose="020B0004020202020204" pitchFamily="34" charset="0"/>
                <a:cs typeface="Arial" panose="020B0604020202020204" pitchFamily="34" charset="0"/>
              </a:rPr>
              <a:t> </a:t>
            </a:r>
            <a:r>
              <a:rPr b="1" dirty="0" err="1">
                <a:solidFill>
                  <a:schemeClr val="bg2"/>
                </a:solidFill>
                <a:latin typeface="Aptos Narrow" panose="020B0004020202020204" pitchFamily="34" charset="0"/>
                <a:cs typeface="Arial" panose="020B0604020202020204" pitchFamily="34" charset="0"/>
              </a:rPr>
              <a:t>Seleksi</a:t>
            </a:r>
            <a:r>
              <a:rPr b="1" dirty="0">
                <a:solidFill>
                  <a:schemeClr val="bg2"/>
                </a:solidFill>
                <a:latin typeface="Aptos Narrow" panose="020B0004020202020204" pitchFamily="34" charset="0"/>
                <a:cs typeface="Arial" panose="020B0604020202020204" pitchFamily="34" charset="0"/>
              </a:rPr>
              <a:t> Supplier </a:t>
            </a:r>
            <a:r>
              <a:rPr b="1" dirty="0" err="1">
                <a:solidFill>
                  <a:schemeClr val="bg2"/>
                </a:solidFill>
                <a:latin typeface="Aptos Narrow" panose="020B0004020202020204" pitchFamily="34" charset="0"/>
                <a:cs typeface="Arial" panose="020B0604020202020204" pitchFamily="34" charset="0"/>
              </a:rPr>
              <a:t>Aksesoris</a:t>
            </a:r>
            <a:r>
              <a:rPr b="1" dirty="0">
                <a:solidFill>
                  <a:schemeClr val="bg2"/>
                </a:solidFill>
                <a:latin typeface="Aptos Narrow" panose="020B0004020202020204" pitchFamily="34" charset="0"/>
                <a:cs typeface="Arial" panose="020B0604020202020204" pitchFamily="34" charset="0"/>
              </a:rPr>
              <a:t> Handphone</a:t>
            </a:r>
          </a:p>
          <a:p>
            <a:pPr algn="ctr">
              <a:spcBef>
                <a:spcPts val="600"/>
              </a:spcBef>
              <a:defRPr sz="1800" b="1">
                <a:solidFill>
                  <a:srgbClr val="FFFFFF"/>
                </a:solidFill>
                <a:latin typeface="Arial"/>
              </a:defRPr>
            </a:pPr>
            <a:r>
              <a:rPr dirty="0"/>
              <a:t>Studi Kasus: CV </a:t>
            </a:r>
            <a:r>
              <a:rPr dirty="0" err="1"/>
              <a:t>Anugerah</a:t>
            </a:r>
            <a:r>
              <a:rPr dirty="0"/>
              <a:t> Mega Makmur Pontianak</a:t>
            </a:r>
          </a:p>
        </p:txBody>
      </p:sp>
      <p:sp>
        <p:nvSpPr>
          <p:cNvPr id="4" name="TextBox 3"/>
          <p:cNvSpPr txBox="1"/>
          <p:nvPr/>
        </p:nvSpPr>
        <p:spPr>
          <a:xfrm>
            <a:off x="914400" y="3782669"/>
            <a:ext cx="10362895" cy="1600438"/>
          </a:xfrm>
          <a:prstGeom prst="rect">
            <a:avLst/>
          </a:prstGeom>
          <a:noFill/>
        </p:spPr>
        <p:txBody>
          <a:bodyPr wrap="square">
            <a:spAutoFit/>
          </a:bodyPr>
          <a:lstStyle/>
          <a:p>
            <a:pPr algn="ctr">
              <a:defRPr sz="1300" b="1">
                <a:solidFill>
                  <a:srgbClr val="64748B"/>
                </a:solidFill>
                <a:latin typeface="Arial"/>
              </a:defRPr>
            </a:pPr>
            <a:r>
              <a:rPr dirty="0" err="1"/>
              <a:t>Disusun</a:t>
            </a:r>
            <a:r>
              <a:rPr dirty="0"/>
              <a:t> Oleh (</a:t>
            </a:r>
            <a:r>
              <a:rPr dirty="0" err="1"/>
              <a:t>Kelompok</a:t>
            </a:r>
            <a:r>
              <a:rPr dirty="0"/>
              <a:t> 5):</a:t>
            </a:r>
          </a:p>
          <a:p>
            <a:pPr algn="ctr">
              <a:spcBef>
                <a:spcPts val="600"/>
              </a:spcBef>
              <a:defRPr sz="1200">
                <a:solidFill>
                  <a:srgbClr val="DCE1E6"/>
                </a:solidFill>
                <a:latin typeface="Arial"/>
              </a:defRPr>
            </a:pPr>
            <a:r>
              <a:rPr dirty="0"/>
              <a:t>Deigo Janvier (23412978) </a:t>
            </a:r>
            <a:endParaRPr lang="en-US" dirty="0"/>
          </a:p>
          <a:p>
            <a:pPr algn="ctr">
              <a:spcBef>
                <a:spcPts val="600"/>
              </a:spcBef>
              <a:defRPr sz="1200">
                <a:solidFill>
                  <a:srgbClr val="DCE1E6"/>
                </a:solidFill>
                <a:latin typeface="Arial"/>
              </a:defRPr>
            </a:pPr>
            <a:r>
              <a:rPr dirty="0"/>
              <a:t>Ferdinandus </a:t>
            </a:r>
            <a:r>
              <a:rPr dirty="0" err="1"/>
              <a:t>Abdiar</a:t>
            </a:r>
            <a:r>
              <a:rPr dirty="0"/>
              <a:t> (23412983) </a:t>
            </a:r>
            <a:endParaRPr lang="en-US" dirty="0"/>
          </a:p>
          <a:p>
            <a:pPr algn="ctr">
              <a:spcBef>
                <a:spcPts val="600"/>
              </a:spcBef>
              <a:defRPr sz="1200">
                <a:solidFill>
                  <a:srgbClr val="DCE1E6"/>
                </a:solidFill>
                <a:latin typeface="Arial"/>
              </a:defRPr>
            </a:pPr>
            <a:r>
              <a:rPr lang="en-US" dirty="0" err="1"/>
              <a:t>I</a:t>
            </a:r>
            <a:r>
              <a:rPr dirty="0" err="1"/>
              <a:t>rniawati</a:t>
            </a:r>
            <a:r>
              <a:rPr dirty="0"/>
              <a:t> Sonia (23412991) </a:t>
            </a:r>
            <a:endParaRPr lang="en-US" dirty="0"/>
          </a:p>
          <a:p>
            <a:pPr algn="ctr">
              <a:spcBef>
                <a:spcPts val="600"/>
              </a:spcBef>
              <a:defRPr sz="1200">
                <a:solidFill>
                  <a:srgbClr val="DCE1E6"/>
                </a:solidFill>
                <a:latin typeface="Arial"/>
              </a:defRPr>
            </a:pPr>
            <a:r>
              <a:rPr dirty="0"/>
              <a:t>Jackson (23412992) </a:t>
            </a:r>
            <a:endParaRPr lang="en-US" dirty="0"/>
          </a:p>
          <a:p>
            <a:pPr algn="ctr">
              <a:spcBef>
                <a:spcPts val="600"/>
              </a:spcBef>
              <a:defRPr sz="1200">
                <a:solidFill>
                  <a:srgbClr val="DCE1E6"/>
                </a:solidFill>
                <a:latin typeface="Arial"/>
              </a:defRPr>
            </a:pPr>
            <a:r>
              <a:rPr dirty="0" err="1"/>
              <a:t>Jhulio</a:t>
            </a:r>
            <a:r>
              <a:rPr dirty="0"/>
              <a:t> </a:t>
            </a:r>
            <a:r>
              <a:rPr dirty="0" err="1"/>
              <a:t>Thendeux</a:t>
            </a:r>
            <a:r>
              <a:rPr dirty="0"/>
              <a:t> (23412994)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731520"/>
          </a:xfrm>
          <a:prstGeom prst="rect">
            <a:avLst/>
          </a:prstGeom>
          <a:noFill/>
        </p:spPr>
        <p:txBody>
          <a:bodyPr wrap="square" lIns="0" tIns="0" rIns="0" bIns="0">
            <a:spAutoFit/>
          </a:bodyPr>
          <a:lstStyle/>
          <a:p>
            <a:pPr>
              <a:defRPr sz="2800" b="1">
                <a:solidFill>
                  <a:srgbClr val="0F172A"/>
                </a:solidFill>
                <a:latin typeface="Arial"/>
              </a:defRPr>
            </a:pPr>
            <a:r>
              <a:t>Latar Belakang Masalah</a:t>
            </a:r>
          </a:p>
        </p:txBody>
      </p:sp>
      <p:sp>
        <p:nvSpPr>
          <p:cNvPr id="4" name="Rectangle 3"/>
          <p:cNvSpPr/>
          <p:nvPr/>
        </p:nvSpPr>
        <p:spPr>
          <a:xfrm>
            <a:off x="731520" y="109728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63040"/>
            <a:ext cx="5120640" cy="4572000"/>
          </a:xfrm>
          <a:prstGeom prst="roundRect">
            <a:avLst>
              <a:gd name="adj" fmla="val 5000"/>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737360"/>
            <a:ext cx="4572000" cy="4023360"/>
          </a:xfrm>
          <a:prstGeom prst="rect">
            <a:avLst/>
          </a:prstGeom>
          <a:noFill/>
        </p:spPr>
        <p:txBody>
          <a:bodyPr wrap="square">
            <a:spAutoFit/>
          </a:bodyPr>
          <a:lstStyle/>
          <a:p>
            <a:pPr>
              <a:spcAft>
                <a:spcPts val="1400"/>
              </a:spcAft>
              <a:defRPr sz="1800" b="1">
                <a:solidFill>
                  <a:srgbClr val="0F172A"/>
                </a:solidFill>
                <a:latin typeface="Arial"/>
              </a:defRPr>
            </a:pPr>
            <a:r>
              <a:t>Kondisi CV Anugerah Mega Makmur</a:t>
            </a:r>
          </a:p>
          <a:p>
            <a:pPr>
              <a:spcAft>
                <a:spcPts val="800"/>
              </a:spcAft>
            </a:pPr>
            <a:r>
              <a:rPr sz="1400" b="0">
                <a:solidFill>
                  <a:srgbClr val="1E293B"/>
                </a:solidFill>
                <a:latin typeface="Arial"/>
              </a:rPr>
              <a:t>Perusahaan perdagangan grosir aksesoris handphone di Kota Pontianak.</a:t>
            </a:r>
          </a:p>
          <a:p>
            <a:pPr>
              <a:spcAft>
                <a:spcPts val="800"/>
              </a:spcAft>
            </a:pPr>
            <a:r>
              <a:rPr sz="1400" b="0">
                <a:solidFill>
                  <a:srgbClr val="1E293B"/>
                </a:solidFill>
                <a:latin typeface="Arial"/>
              </a:rPr>
              <a:t>Menjual charger, casing, kabel data, powerbank, tempered glass, audio, dll.</a:t>
            </a:r>
          </a:p>
          <a:p>
            <a:pPr>
              <a:spcAft>
                <a:spcPts val="800"/>
              </a:spcAft>
            </a:pPr>
            <a:r>
              <a:rPr sz="1400" b="0">
                <a:solidFill>
                  <a:srgbClr val="1E293B"/>
                </a:solidFill>
                <a:latin typeface="Arial"/>
              </a:rPr>
              <a:t>Bekerja sama dengan 17 supplier aktif untuk mensuplai berbagai merek.</a:t>
            </a:r>
          </a:p>
          <a:p>
            <a:pPr>
              <a:spcAft>
                <a:spcPts val="800"/>
              </a:spcAft>
            </a:pPr>
            <a:r>
              <a:rPr sz="1400" b="0">
                <a:solidFill>
                  <a:srgbClr val="1E293B"/>
                </a:solidFill>
                <a:latin typeface="Arial"/>
              </a:rPr>
              <a:t>Stok yang melimpah membutuhkan kualitas dan ketersediaan dari supplier terbaik.</a:t>
            </a:r>
          </a:p>
        </p:txBody>
      </p:sp>
      <p:sp>
        <p:nvSpPr>
          <p:cNvPr id="7" name="Rounded Rectangle 6"/>
          <p:cNvSpPr/>
          <p:nvPr/>
        </p:nvSpPr>
        <p:spPr>
          <a:xfrm>
            <a:off x="6339535" y="1463040"/>
            <a:ext cx="5120640" cy="4572000"/>
          </a:xfrm>
          <a:prstGeom prst="roundRect">
            <a:avLst>
              <a:gd name="adj" fmla="val 5000"/>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737360"/>
            <a:ext cx="4572000" cy="4023360"/>
          </a:xfrm>
          <a:prstGeom prst="rect">
            <a:avLst/>
          </a:prstGeom>
          <a:noFill/>
        </p:spPr>
        <p:txBody>
          <a:bodyPr wrap="square">
            <a:spAutoFit/>
          </a:bodyPr>
          <a:lstStyle/>
          <a:p>
            <a:pPr>
              <a:spcAft>
                <a:spcPts val="1400"/>
              </a:spcAft>
              <a:defRPr sz="1800" b="1">
                <a:solidFill>
                  <a:srgbClr val="0F172A"/>
                </a:solidFill>
                <a:latin typeface="Arial"/>
              </a:defRPr>
            </a:pPr>
            <a:r>
              <a:t>Masalah &amp; Solusi</a:t>
            </a:r>
          </a:p>
          <a:p>
            <a:pPr>
              <a:spcAft>
                <a:spcPts val="800"/>
              </a:spcAft>
            </a:pPr>
            <a:r>
              <a:rPr sz="1400" b="1">
                <a:solidFill>
                  <a:srgbClr val="1E293B"/>
                </a:solidFill>
                <a:latin typeface="Arial"/>
              </a:rPr>
              <a:t>Masalah Utama: </a:t>
            </a:r>
            <a:r>
              <a:rPr sz="1400" b="0">
                <a:solidFill>
                  <a:srgbClr val="1E293B"/>
                </a:solidFill>
                <a:latin typeface="Arial"/>
              </a:rPr>
              <a:t>Pemilihan supplier masih subjektif berdasarkan pengalaman pribadi pemilik.</a:t>
            </a:r>
          </a:p>
          <a:p>
            <a:pPr>
              <a:spcAft>
                <a:spcPts val="800"/>
              </a:spcAft>
            </a:pPr>
            <a:r>
              <a:rPr sz="1400" b="1">
                <a:solidFill>
                  <a:srgbClr val="1E293B"/>
                </a:solidFill>
                <a:latin typeface="Arial"/>
              </a:rPr>
              <a:t>Dampak: </a:t>
            </a:r>
            <a:r>
              <a:rPr sz="1400" b="0">
                <a:solidFill>
                  <a:srgbClr val="1E293B"/>
                </a:solidFill>
                <a:latin typeface="Arial"/>
              </a:rPr>
              <a:t>Penilaian tidak konsisten dan tidak terdokumentasi secara formal.</a:t>
            </a:r>
          </a:p>
          <a:p>
            <a:pPr>
              <a:spcAft>
                <a:spcPts val="800"/>
              </a:spcAft>
            </a:pPr>
            <a:r>
              <a:rPr sz="1400" b="1">
                <a:solidFill>
                  <a:srgbClr val="1E293B"/>
                </a:solidFill>
                <a:latin typeface="Arial"/>
              </a:rPr>
              <a:t>Solusi: </a:t>
            </a:r>
            <a:r>
              <a:rPr sz="1400" b="0">
                <a:solidFill>
                  <a:srgbClr val="1E293B"/>
                </a:solidFill>
                <a:latin typeface="Arial"/>
              </a:rPr>
              <a:t>Membangun Sistem Pendukung Keputusan (SPK) berbasis web.</a:t>
            </a:r>
          </a:p>
          <a:p>
            <a:pPr>
              <a:spcAft>
                <a:spcPts val="800"/>
              </a:spcAft>
            </a:pPr>
            <a:r>
              <a:rPr sz="1400" b="1">
                <a:solidFill>
                  <a:srgbClr val="1E293B"/>
                </a:solidFill>
                <a:latin typeface="Arial"/>
              </a:rPr>
              <a:t>Metode: </a:t>
            </a:r>
            <a:r>
              <a:rPr sz="1400" b="0">
                <a:solidFill>
                  <a:srgbClr val="1E293B"/>
                </a:solidFill>
                <a:latin typeface="Arial"/>
              </a:rPr>
              <a:t>Menggunakan metode Simple Additive Weighting (SAW) untuk hasil objektif dan cepat.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731520"/>
          </a:xfrm>
          <a:prstGeom prst="rect">
            <a:avLst/>
          </a:prstGeom>
          <a:noFill/>
        </p:spPr>
        <p:txBody>
          <a:bodyPr wrap="square" lIns="0" tIns="0" rIns="0" bIns="0">
            <a:spAutoFit/>
          </a:bodyPr>
          <a:lstStyle/>
          <a:p>
            <a:pPr>
              <a:defRPr sz="2800" b="1">
                <a:solidFill>
                  <a:srgbClr val="0F172A"/>
                </a:solidFill>
                <a:latin typeface="Arial"/>
              </a:defRPr>
            </a:pPr>
            <a:r>
              <a:t>Rumusan Masalah &amp; Tujuan Penelitian</a:t>
            </a:r>
          </a:p>
        </p:txBody>
      </p:sp>
      <p:sp>
        <p:nvSpPr>
          <p:cNvPr id="4" name="Rectangle 3"/>
          <p:cNvSpPr/>
          <p:nvPr/>
        </p:nvSpPr>
        <p:spPr>
          <a:xfrm>
            <a:off x="731520" y="109728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63040"/>
            <a:ext cx="5120640" cy="4572000"/>
          </a:xfrm>
          <a:prstGeom prst="roundRect">
            <a:avLst>
              <a:gd name="adj" fmla="val 5000"/>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737360"/>
            <a:ext cx="4572000" cy="4023360"/>
          </a:xfrm>
          <a:prstGeom prst="rect">
            <a:avLst/>
          </a:prstGeom>
          <a:noFill/>
        </p:spPr>
        <p:txBody>
          <a:bodyPr wrap="square">
            <a:spAutoFit/>
          </a:bodyPr>
          <a:lstStyle/>
          <a:p>
            <a:pPr>
              <a:spcAft>
                <a:spcPts val="1400"/>
              </a:spcAft>
              <a:defRPr sz="1800" b="1">
                <a:solidFill>
                  <a:srgbClr val="0F172A"/>
                </a:solidFill>
                <a:latin typeface="Arial"/>
              </a:defRPr>
            </a:pPr>
            <a:r>
              <a:t>Rumusan Masalah</a:t>
            </a:r>
          </a:p>
          <a:p>
            <a:pPr>
              <a:spcAft>
                <a:spcPts val="800"/>
              </a:spcAft>
            </a:pPr>
            <a:r>
              <a:rPr sz="1400" b="0">
                <a:solidFill>
                  <a:srgbClr val="1E293B"/>
                </a:solidFill>
                <a:latin typeface="Arial"/>
              </a:rPr>
              <a:t>Bagaimana mengidentifikasi kriteria penilaian dan bobot prioritas?</a:t>
            </a:r>
          </a:p>
          <a:p>
            <a:pPr>
              <a:spcAft>
                <a:spcPts val="800"/>
              </a:spcAft>
            </a:pPr>
            <a:r>
              <a:rPr sz="1400" b="0">
                <a:solidFill>
                  <a:srgbClr val="1E293B"/>
                </a:solidFill>
                <a:latin typeface="Arial"/>
              </a:rPr>
              <a:t>Bagaimana menerapkan metode SAW untuk perankingan supplier?</a:t>
            </a:r>
          </a:p>
          <a:p>
            <a:pPr>
              <a:spcAft>
                <a:spcPts val="800"/>
              </a:spcAft>
            </a:pPr>
            <a:r>
              <a:rPr sz="1400" b="0">
                <a:solidFill>
                  <a:srgbClr val="1E293B"/>
                </a:solidFill>
                <a:latin typeface="Arial"/>
              </a:rPr>
              <a:t>Bagaimana merancang dan membangun sistem SPK berbasis web (Next.js + NestJS)?</a:t>
            </a:r>
          </a:p>
          <a:p>
            <a:pPr>
              <a:spcAft>
                <a:spcPts val="800"/>
              </a:spcAft>
            </a:pPr>
            <a:r>
              <a:rPr sz="1400" b="0">
                <a:solidFill>
                  <a:srgbClr val="1E293B"/>
                </a:solidFill>
                <a:latin typeface="Arial"/>
              </a:rPr>
              <a:t>Bagaimana validasi dan kesesuaian hasil sistem dibanding hitungan manual?</a:t>
            </a:r>
          </a:p>
        </p:txBody>
      </p:sp>
      <p:sp>
        <p:nvSpPr>
          <p:cNvPr id="7" name="Rounded Rectangle 6"/>
          <p:cNvSpPr/>
          <p:nvPr/>
        </p:nvSpPr>
        <p:spPr>
          <a:xfrm>
            <a:off x="6339535" y="1463040"/>
            <a:ext cx="5120640" cy="4572000"/>
          </a:xfrm>
          <a:prstGeom prst="roundRect">
            <a:avLst>
              <a:gd name="adj" fmla="val 5000"/>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737360"/>
            <a:ext cx="4572000" cy="4023360"/>
          </a:xfrm>
          <a:prstGeom prst="rect">
            <a:avLst/>
          </a:prstGeom>
          <a:noFill/>
        </p:spPr>
        <p:txBody>
          <a:bodyPr wrap="square">
            <a:spAutoFit/>
          </a:bodyPr>
          <a:lstStyle/>
          <a:p>
            <a:pPr>
              <a:spcAft>
                <a:spcPts val="1400"/>
              </a:spcAft>
              <a:defRPr sz="1800" b="1">
                <a:solidFill>
                  <a:srgbClr val="0F172A"/>
                </a:solidFill>
                <a:latin typeface="Arial"/>
              </a:defRPr>
            </a:pPr>
            <a:r>
              <a:t>Tujuan Penelitian</a:t>
            </a:r>
          </a:p>
          <a:p>
            <a:pPr>
              <a:spcAft>
                <a:spcPts val="800"/>
              </a:spcAft>
            </a:pPr>
            <a:r>
              <a:rPr sz="1400" b="0">
                <a:solidFill>
                  <a:srgbClr val="1E293B"/>
                </a:solidFill>
                <a:latin typeface="Arial"/>
              </a:rPr>
              <a:t>Mengidentifikasi 5 kriteria utama dan menetapkan bobot preferensi.</a:t>
            </a:r>
          </a:p>
          <a:p>
            <a:pPr>
              <a:spcAft>
                <a:spcPts val="800"/>
              </a:spcAft>
            </a:pPr>
            <a:r>
              <a:rPr sz="1400" b="0">
                <a:solidFill>
                  <a:srgbClr val="1E293B"/>
                </a:solidFill>
                <a:latin typeface="Arial"/>
              </a:rPr>
              <a:t>Menerapkan rumus penjumlahan terbobot SAW pada data supplier.</a:t>
            </a:r>
          </a:p>
          <a:p>
            <a:pPr>
              <a:spcAft>
                <a:spcPts val="800"/>
              </a:spcAft>
            </a:pPr>
            <a:r>
              <a:rPr sz="1400" b="0">
                <a:solidFill>
                  <a:srgbClr val="1E293B"/>
                </a:solidFill>
                <a:latin typeface="Arial"/>
              </a:rPr>
              <a:t>Menghasilkan aplikasi SPK berbasis web yang responsif dan fungsional.</a:t>
            </a:r>
          </a:p>
          <a:p>
            <a:pPr>
              <a:spcAft>
                <a:spcPts val="800"/>
              </a:spcAft>
            </a:pPr>
            <a:r>
              <a:rPr sz="1400" b="0">
                <a:solidFill>
                  <a:srgbClr val="1E293B"/>
                </a:solidFill>
                <a:latin typeface="Arial"/>
              </a:rPr>
              <a:t>Memvalidasi perhitungan backend API agar 100% cocok dengan manual.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731520"/>
          </a:xfrm>
          <a:prstGeom prst="rect">
            <a:avLst/>
          </a:prstGeom>
          <a:noFill/>
        </p:spPr>
        <p:txBody>
          <a:bodyPr wrap="square" lIns="0" tIns="0" rIns="0" bIns="0">
            <a:spAutoFit/>
          </a:bodyPr>
          <a:lstStyle/>
          <a:p>
            <a:pPr>
              <a:defRPr sz="2800" b="1">
                <a:solidFill>
                  <a:srgbClr val="0F172A"/>
                </a:solidFill>
                <a:latin typeface="Arial"/>
              </a:defRPr>
            </a:pPr>
            <a:r>
              <a:t>Batasan Masalah &amp; Manfaat</a:t>
            </a:r>
          </a:p>
        </p:txBody>
      </p:sp>
      <p:sp>
        <p:nvSpPr>
          <p:cNvPr id="4" name="Rectangle 3"/>
          <p:cNvSpPr/>
          <p:nvPr/>
        </p:nvSpPr>
        <p:spPr>
          <a:xfrm>
            <a:off x="731520" y="109728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63040"/>
            <a:ext cx="5120640" cy="4572000"/>
          </a:xfrm>
          <a:prstGeom prst="roundRect">
            <a:avLst>
              <a:gd name="adj" fmla="val 5000"/>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737360"/>
            <a:ext cx="4572000" cy="4023360"/>
          </a:xfrm>
          <a:prstGeom prst="rect">
            <a:avLst/>
          </a:prstGeom>
          <a:noFill/>
        </p:spPr>
        <p:txBody>
          <a:bodyPr wrap="square">
            <a:spAutoFit/>
          </a:bodyPr>
          <a:lstStyle/>
          <a:p>
            <a:pPr>
              <a:spcAft>
                <a:spcPts val="1400"/>
              </a:spcAft>
              <a:defRPr sz="1800" b="1">
                <a:solidFill>
                  <a:srgbClr val="0F172A"/>
                </a:solidFill>
                <a:latin typeface="Arial"/>
              </a:defRPr>
            </a:pPr>
            <a:r>
              <a:t>Batasan Masalah</a:t>
            </a:r>
          </a:p>
          <a:p>
            <a:pPr>
              <a:spcAft>
                <a:spcPts val="800"/>
              </a:spcAft>
            </a:pPr>
            <a:r>
              <a:rPr sz="1400" b="0">
                <a:solidFill>
                  <a:srgbClr val="1E293B"/>
                </a:solidFill>
                <a:latin typeface="Arial"/>
              </a:rPr>
              <a:t>Lokasi penelitian terbatas pada CV Anugerah Mega Makmur Pontianak.</a:t>
            </a:r>
          </a:p>
          <a:p>
            <a:pPr>
              <a:spcAft>
                <a:spcPts val="800"/>
              </a:spcAft>
            </a:pPr>
            <a:r>
              <a:rPr sz="1400" b="0">
                <a:solidFill>
                  <a:srgbClr val="1E293B"/>
                </a:solidFill>
                <a:latin typeface="Arial"/>
              </a:rPr>
              <a:t>5 kriteria penilaian: Harga (C1), Kualitas (C2), Pengiriman (C3), Layanan (C4), Kapasitas (C5) + Bonus Ongkir.</a:t>
            </a:r>
          </a:p>
          <a:p>
            <a:pPr>
              <a:spcAft>
                <a:spcPts val="800"/>
              </a:spcAft>
            </a:pPr>
            <a:r>
              <a:rPr sz="1400" b="0">
                <a:solidFill>
                  <a:srgbClr val="1E293B"/>
                </a:solidFill>
                <a:latin typeface="Arial"/>
              </a:rPr>
              <a:t>Pengujian dibatasi pada 5 supplier sampel.</a:t>
            </a:r>
          </a:p>
          <a:p>
            <a:pPr>
              <a:spcAft>
                <a:spcPts val="800"/>
              </a:spcAft>
            </a:pPr>
            <a:r>
              <a:rPr sz="1400" b="0">
                <a:solidFill>
                  <a:srgbClr val="1E293B"/>
                </a:solidFill>
                <a:latin typeface="Arial"/>
              </a:rPr>
              <a:t>Sistem yang dibuat berbasis web. Modul HRIS yang tidak aktif diabaikan.</a:t>
            </a:r>
          </a:p>
        </p:txBody>
      </p:sp>
      <p:sp>
        <p:nvSpPr>
          <p:cNvPr id="7" name="Rounded Rectangle 6"/>
          <p:cNvSpPr/>
          <p:nvPr/>
        </p:nvSpPr>
        <p:spPr>
          <a:xfrm>
            <a:off x="6339535" y="1463040"/>
            <a:ext cx="5120640" cy="4572000"/>
          </a:xfrm>
          <a:prstGeom prst="roundRect">
            <a:avLst>
              <a:gd name="adj" fmla="val 5000"/>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737360"/>
            <a:ext cx="4572000" cy="4023360"/>
          </a:xfrm>
          <a:prstGeom prst="rect">
            <a:avLst/>
          </a:prstGeom>
          <a:noFill/>
        </p:spPr>
        <p:txBody>
          <a:bodyPr wrap="square">
            <a:spAutoFit/>
          </a:bodyPr>
          <a:lstStyle/>
          <a:p>
            <a:pPr>
              <a:spcAft>
                <a:spcPts val="1400"/>
              </a:spcAft>
              <a:defRPr sz="1800" b="1">
                <a:solidFill>
                  <a:srgbClr val="0F172A"/>
                </a:solidFill>
                <a:latin typeface="Arial"/>
              </a:defRPr>
            </a:pPr>
            <a:r>
              <a:t>Manfaat Penelitian</a:t>
            </a:r>
          </a:p>
          <a:p>
            <a:pPr>
              <a:spcAft>
                <a:spcPts val="800"/>
              </a:spcAft>
            </a:pPr>
            <a:r>
              <a:rPr sz="1400" b="1">
                <a:solidFill>
                  <a:srgbClr val="1E293B"/>
                </a:solidFill>
                <a:latin typeface="Arial"/>
              </a:rPr>
              <a:t>Bagi Perusahaan: </a:t>
            </a:r>
            <a:r>
              <a:rPr sz="1400" b="0">
                <a:solidFill>
                  <a:srgbClr val="1E293B"/>
                </a:solidFill>
                <a:latin typeface="Arial"/>
              </a:rPr>
              <a:t>Membantu memilih supplier terbaik berdasarkan kriteria terukur.</a:t>
            </a:r>
          </a:p>
          <a:p>
            <a:pPr>
              <a:spcAft>
                <a:spcPts val="800"/>
              </a:spcAft>
            </a:pPr>
            <a:r>
              <a:rPr sz="1400" b="1">
                <a:solidFill>
                  <a:srgbClr val="1E293B"/>
                </a:solidFill>
                <a:latin typeface="Arial"/>
              </a:rPr>
              <a:t>Bagi Akademisi: </a:t>
            </a:r>
            <a:r>
              <a:rPr sz="1400" b="0">
                <a:solidFill>
                  <a:srgbClr val="1E293B"/>
                </a:solidFill>
                <a:latin typeface="Arial"/>
              </a:rPr>
              <a:t>Sebagai referensi implementasi metode SAW pada kasus bisnis riil.</a:t>
            </a:r>
          </a:p>
          <a:p>
            <a:pPr>
              <a:spcAft>
                <a:spcPts val="800"/>
              </a:spcAft>
            </a:pPr>
            <a:r>
              <a:rPr sz="1400" b="1">
                <a:solidFill>
                  <a:srgbClr val="1E293B"/>
                </a:solidFill>
                <a:latin typeface="Arial"/>
              </a:rPr>
              <a:t>Bagi Penulis: </a:t>
            </a:r>
            <a:r>
              <a:rPr sz="1400" b="0">
                <a:solidFill>
                  <a:srgbClr val="1E293B"/>
                </a:solidFill>
                <a:latin typeface="Arial"/>
              </a:rPr>
              <a:t>Mengaplikasikan ilmu SPK dalam project Fullstack Web Development.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731520"/>
          </a:xfrm>
          <a:prstGeom prst="rect">
            <a:avLst/>
          </a:prstGeom>
          <a:noFill/>
        </p:spPr>
        <p:txBody>
          <a:bodyPr wrap="square" lIns="0" tIns="0" rIns="0" bIns="0">
            <a:spAutoFit/>
          </a:bodyPr>
          <a:lstStyle/>
          <a:p>
            <a:pPr>
              <a:defRPr sz="2800" b="1">
                <a:solidFill>
                  <a:srgbClr val="0F172A"/>
                </a:solidFill>
                <a:latin typeface="Arial"/>
              </a:defRPr>
            </a:pPr>
            <a:r>
              <a:t>Metode Penelitian &amp; Alur Kerja</a:t>
            </a:r>
          </a:p>
        </p:txBody>
      </p:sp>
      <p:sp>
        <p:nvSpPr>
          <p:cNvPr id="4" name="Rectangle 3"/>
          <p:cNvSpPr/>
          <p:nvPr/>
        </p:nvSpPr>
        <p:spPr>
          <a:xfrm>
            <a:off x="731520" y="109728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192024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828800"/>
            <a:ext cx="1737360" cy="3474720"/>
          </a:xfrm>
          <a:prstGeom prst="rect">
            <a:avLst/>
          </a:prstGeom>
          <a:noFill/>
        </p:spPr>
        <p:txBody>
          <a:bodyPr wrap="square">
            <a:spAutoFit/>
          </a:bodyPr>
          <a:lstStyle/>
          <a:p>
            <a:pPr>
              <a:spcAft>
                <a:spcPts val="1400"/>
              </a:spcAft>
              <a:defRPr sz="1600" b="1">
                <a:solidFill>
                  <a:srgbClr val="0F172A"/>
                </a:solidFill>
                <a:latin typeface="Arial"/>
              </a:defRPr>
            </a:pPr>
            <a:r>
              <a:t>1. Observasi</a:t>
            </a:r>
          </a:p>
          <a:p>
            <a:pPr>
              <a:defRPr sz="1200">
                <a:solidFill>
                  <a:srgbClr val="1E293B"/>
                </a:solidFill>
                <a:latin typeface="Arial"/>
              </a:defRPr>
            </a:pPr>
            <a:r>
              <a:t>Mengamati proses seleksi supplier di CV AMM secara langsung.</a:t>
            </a:r>
          </a:p>
        </p:txBody>
      </p:sp>
      <p:sp>
        <p:nvSpPr>
          <p:cNvPr id="7" name="Rounded Rectangle 6"/>
          <p:cNvSpPr/>
          <p:nvPr/>
        </p:nvSpPr>
        <p:spPr>
          <a:xfrm>
            <a:off x="2834640" y="1645920"/>
            <a:ext cx="192024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926080" y="1828800"/>
            <a:ext cx="1737360" cy="3474720"/>
          </a:xfrm>
          <a:prstGeom prst="rect">
            <a:avLst/>
          </a:prstGeom>
          <a:noFill/>
        </p:spPr>
        <p:txBody>
          <a:bodyPr wrap="square">
            <a:spAutoFit/>
          </a:bodyPr>
          <a:lstStyle/>
          <a:p>
            <a:pPr>
              <a:spcAft>
                <a:spcPts val="1400"/>
              </a:spcAft>
              <a:defRPr sz="1600" b="1">
                <a:solidFill>
                  <a:srgbClr val="0F172A"/>
                </a:solidFill>
                <a:latin typeface="Arial"/>
              </a:defRPr>
            </a:pPr>
            <a:r>
              <a:t>2. Wawancara</a:t>
            </a:r>
          </a:p>
          <a:p>
            <a:pPr>
              <a:defRPr sz="1200">
                <a:solidFill>
                  <a:srgbClr val="1E293B"/>
                </a:solidFill>
                <a:latin typeface="Arial"/>
              </a:defRPr>
            </a:pPr>
            <a:r>
              <a:t>Wawancara pemilik untuk menggali kriteria dan bobot prioritas.</a:t>
            </a:r>
          </a:p>
        </p:txBody>
      </p:sp>
      <p:sp>
        <p:nvSpPr>
          <p:cNvPr id="9" name="Rounded Rectangle 8"/>
          <p:cNvSpPr/>
          <p:nvPr/>
        </p:nvSpPr>
        <p:spPr>
          <a:xfrm>
            <a:off x="4937760" y="1645920"/>
            <a:ext cx="192024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0" y="1828800"/>
            <a:ext cx="1737360" cy="3474720"/>
          </a:xfrm>
          <a:prstGeom prst="rect">
            <a:avLst/>
          </a:prstGeom>
          <a:noFill/>
        </p:spPr>
        <p:txBody>
          <a:bodyPr wrap="square">
            <a:spAutoFit/>
          </a:bodyPr>
          <a:lstStyle/>
          <a:p>
            <a:pPr>
              <a:spcAft>
                <a:spcPts val="1400"/>
              </a:spcAft>
              <a:defRPr sz="1600" b="1">
                <a:solidFill>
                  <a:srgbClr val="0F172A"/>
                </a:solidFill>
                <a:latin typeface="Arial"/>
              </a:defRPr>
            </a:pPr>
            <a:r>
              <a:t>3. Studi Pustaka</a:t>
            </a:r>
          </a:p>
          <a:p>
            <a:pPr>
              <a:defRPr sz="1200">
                <a:solidFill>
                  <a:srgbClr val="1E293B"/>
                </a:solidFill>
                <a:latin typeface="Arial"/>
              </a:defRPr>
            </a:pPr>
            <a:r>
              <a:t>Mengkaji literatur SPK, rumus SAW, Next.js, dan NestJS.</a:t>
            </a:r>
          </a:p>
        </p:txBody>
      </p:sp>
      <p:sp>
        <p:nvSpPr>
          <p:cNvPr id="11" name="Rounded Rectangle 10"/>
          <p:cNvSpPr/>
          <p:nvPr/>
        </p:nvSpPr>
        <p:spPr>
          <a:xfrm>
            <a:off x="7040880" y="1645920"/>
            <a:ext cx="192024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0" y="1828800"/>
            <a:ext cx="1737360" cy="3474720"/>
          </a:xfrm>
          <a:prstGeom prst="rect">
            <a:avLst/>
          </a:prstGeom>
          <a:noFill/>
        </p:spPr>
        <p:txBody>
          <a:bodyPr wrap="square">
            <a:spAutoFit/>
          </a:bodyPr>
          <a:lstStyle/>
          <a:p>
            <a:pPr>
              <a:spcAft>
                <a:spcPts val="1400"/>
              </a:spcAft>
              <a:defRPr sz="1600" b="1">
                <a:solidFill>
                  <a:srgbClr val="0F172A"/>
                </a:solidFill>
                <a:latin typeface="Arial"/>
              </a:defRPr>
            </a:pPr>
            <a:r>
              <a:t>4. Coding &amp; Web</a:t>
            </a:r>
          </a:p>
          <a:p>
            <a:pPr>
              <a:defRPr sz="1200">
                <a:solidFill>
                  <a:srgbClr val="1E293B"/>
                </a:solidFill>
                <a:latin typeface="Arial"/>
              </a:defRPr>
            </a:pPr>
            <a:r>
              <a:t>Pembuatan frontend Next.js dan REST API NestJS.</a:t>
            </a:r>
          </a:p>
        </p:txBody>
      </p:sp>
      <p:sp>
        <p:nvSpPr>
          <p:cNvPr id="15" name="Rounded Rectangle 10">
            <a:extLst>
              <a:ext uri="{FF2B5EF4-FFF2-40B4-BE49-F238E27FC236}">
                <a16:creationId xmlns:a16="http://schemas.microsoft.com/office/drawing/2014/main" id="{332039D2-41C2-3BEF-87EA-4C06C4525DEF}"/>
              </a:ext>
            </a:extLst>
          </p:cNvPr>
          <p:cNvSpPr/>
          <p:nvPr/>
        </p:nvSpPr>
        <p:spPr>
          <a:xfrm>
            <a:off x="9113520" y="1645920"/>
            <a:ext cx="192024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235440" y="1828800"/>
            <a:ext cx="1737360" cy="3474720"/>
          </a:xfrm>
          <a:prstGeom prst="rect">
            <a:avLst/>
          </a:prstGeom>
          <a:noFill/>
        </p:spPr>
        <p:txBody>
          <a:bodyPr wrap="square">
            <a:spAutoFit/>
          </a:bodyPr>
          <a:lstStyle/>
          <a:p>
            <a:pPr>
              <a:spcAft>
                <a:spcPts val="1400"/>
              </a:spcAft>
              <a:defRPr sz="1600" b="1">
                <a:solidFill>
                  <a:srgbClr val="0F172A"/>
                </a:solidFill>
                <a:latin typeface="Arial"/>
              </a:defRPr>
            </a:pPr>
            <a:r>
              <a:t>5. Pengujian</a:t>
            </a:r>
          </a:p>
          <a:p>
            <a:pPr>
              <a:defRPr sz="1200">
                <a:solidFill>
                  <a:srgbClr val="1E293B"/>
                </a:solidFill>
                <a:latin typeface="Arial"/>
              </a:defRPr>
            </a:pPr>
            <a:r>
              <a:t>Validasi fungsional web vs perhitungan manual.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731520"/>
          </a:xfrm>
          <a:prstGeom prst="rect">
            <a:avLst/>
          </a:prstGeom>
          <a:noFill/>
        </p:spPr>
        <p:txBody>
          <a:bodyPr wrap="square" lIns="0" tIns="0" rIns="0" bIns="0">
            <a:spAutoFit/>
          </a:bodyPr>
          <a:lstStyle/>
          <a:p>
            <a:pPr>
              <a:defRPr sz="2800" b="1">
                <a:solidFill>
                  <a:srgbClr val="0F172A"/>
                </a:solidFill>
                <a:latin typeface="Arial"/>
              </a:defRPr>
            </a:pPr>
            <a:r>
              <a:t>Landasan Teori SPK &amp; Metode SAW</a:t>
            </a:r>
          </a:p>
        </p:txBody>
      </p:sp>
      <p:sp>
        <p:nvSpPr>
          <p:cNvPr id="4" name="Rectangle 3"/>
          <p:cNvSpPr/>
          <p:nvPr/>
        </p:nvSpPr>
        <p:spPr>
          <a:xfrm>
            <a:off x="731520" y="109728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63040"/>
            <a:ext cx="5120640" cy="4572000"/>
          </a:xfrm>
          <a:prstGeom prst="roundRect">
            <a:avLst>
              <a:gd name="adj" fmla="val 5000"/>
            </a:avLst>
          </a:prstGeom>
          <a:solidFill>
            <a:srgbClr val="FFFFFF"/>
          </a:solidFill>
          <a:ln w="190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737360"/>
            <a:ext cx="4572000" cy="4023360"/>
          </a:xfrm>
          <a:prstGeom prst="rect">
            <a:avLst/>
          </a:prstGeom>
          <a:noFill/>
        </p:spPr>
        <p:txBody>
          <a:bodyPr wrap="square">
            <a:spAutoFit/>
          </a:bodyPr>
          <a:lstStyle/>
          <a:p>
            <a:pPr>
              <a:spcAft>
                <a:spcPts val="1400"/>
              </a:spcAft>
              <a:defRPr sz="1800" b="1">
                <a:solidFill>
                  <a:srgbClr val="0F172A"/>
                </a:solidFill>
                <a:latin typeface="Arial"/>
              </a:defRPr>
            </a:pPr>
            <a:r>
              <a:t>Sistem Pendukung Keputusan</a:t>
            </a:r>
          </a:p>
          <a:p>
            <a:pPr>
              <a:spcAft>
                <a:spcPts val="800"/>
              </a:spcAft>
            </a:pPr>
            <a:r>
              <a:rPr sz="1400" b="0">
                <a:solidFill>
                  <a:srgbClr val="1E293B"/>
                </a:solidFill>
                <a:latin typeface="Arial"/>
              </a:rPr>
              <a:t>Sistem berbasis komputer yang interaktif untuk membantu pengambil keputusan memecahkan masalah semi-terstruktur.</a:t>
            </a:r>
          </a:p>
          <a:p>
            <a:pPr>
              <a:spcAft>
                <a:spcPts val="800"/>
              </a:spcAft>
            </a:pPr>
            <a:r>
              <a:rPr sz="1400" b="0">
                <a:solidFill>
                  <a:srgbClr val="1E293B"/>
                </a:solidFill>
                <a:latin typeface="Arial"/>
              </a:rPr>
              <a:t>Mengintegrasikan data dan model matematis/analitis.</a:t>
            </a:r>
          </a:p>
          <a:p>
            <a:pPr>
              <a:spcAft>
                <a:spcPts val="800"/>
              </a:spcAft>
            </a:pPr>
            <a:r>
              <a:rPr sz="1400" b="0">
                <a:solidFill>
                  <a:srgbClr val="1E293B"/>
                </a:solidFill>
                <a:latin typeface="Arial"/>
              </a:rPr>
              <a:t>Tidak menggantikan peran pengambil keputusan, melainkan menjadi alat bantu analisis objektif.</a:t>
            </a:r>
          </a:p>
        </p:txBody>
      </p:sp>
      <p:sp>
        <p:nvSpPr>
          <p:cNvPr id="7" name="Rounded Rectangle 6"/>
          <p:cNvSpPr/>
          <p:nvPr/>
        </p:nvSpPr>
        <p:spPr>
          <a:xfrm>
            <a:off x="6339535" y="1463040"/>
            <a:ext cx="5120640" cy="4572000"/>
          </a:xfrm>
          <a:prstGeom prst="roundRect">
            <a:avLst>
              <a:gd name="adj" fmla="val 5000"/>
            </a:avLst>
          </a:prstGeom>
          <a:solidFill>
            <a:srgbClr val="FFFFFF"/>
          </a:solidFill>
          <a:ln w="190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737360"/>
            <a:ext cx="4572000" cy="4023360"/>
          </a:xfrm>
          <a:prstGeom prst="rect">
            <a:avLst/>
          </a:prstGeom>
          <a:noFill/>
        </p:spPr>
        <p:txBody>
          <a:bodyPr wrap="square">
            <a:spAutoFit/>
          </a:bodyPr>
          <a:lstStyle/>
          <a:p>
            <a:pPr>
              <a:spcAft>
                <a:spcPts val="1400"/>
              </a:spcAft>
              <a:defRPr sz="1800" b="1">
                <a:solidFill>
                  <a:srgbClr val="0F172A"/>
                </a:solidFill>
                <a:latin typeface="Arial"/>
              </a:defRPr>
            </a:pPr>
            <a:r>
              <a:t>Metode SAW (Simple Additive Weighting)</a:t>
            </a:r>
          </a:p>
          <a:p>
            <a:pPr>
              <a:spcAft>
                <a:spcPts val="800"/>
              </a:spcAft>
            </a:pPr>
            <a:r>
              <a:rPr sz="1400" b="0">
                <a:solidFill>
                  <a:srgbClr val="1E293B"/>
                </a:solidFill>
                <a:latin typeface="Arial"/>
              </a:rPr>
              <a:t>Dikenal sebagai metode penjumlahan terbobot.</a:t>
            </a:r>
          </a:p>
          <a:p>
            <a:pPr>
              <a:spcAft>
                <a:spcPts val="800"/>
              </a:spcAft>
            </a:pPr>
            <a:r>
              <a:rPr sz="1400" b="0">
                <a:solidFill>
                  <a:srgbClr val="1E293B"/>
                </a:solidFill>
                <a:latin typeface="Arial"/>
              </a:rPr>
              <a:t>Mencari penjumlahan terbobot dari rating kinerja pada setiap alternatif di semua kriteria.</a:t>
            </a:r>
          </a:p>
          <a:p>
            <a:pPr>
              <a:spcAft>
                <a:spcPts val="800"/>
              </a:spcAft>
            </a:pPr>
            <a:r>
              <a:rPr sz="1400" b="0">
                <a:solidFill>
                  <a:srgbClr val="1E293B"/>
                </a:solidFill>
                <a:latin typeface="Arial"/>
              </a:rPr>
              <a:t>Memerlukan proses normalisasi matriks keputusan agar nilai dari setiap kriteria berada pada skala yang sebanding.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731520"/>
          </a:xfrm>
          <a:prstGeom prst="rect">
            <a:avLst/>
          </a:prstGeom>
          <a:noFill/>
        </p:spPr>
        <p:txBody>
          <a:bodyPr wrap="square" lIns="0" tIns="0" rIns="0" bIns="0">
            <a:spAutoFit/>
          </a:bodyPr>
          <a:lstStyle/>
          <a:p>
            <a:pPr>
              <a:defRPr sz="2800" b="1">
                <a:solidFill>
                  <a:srgbClr val="0F172A"/>
                </a:solidFill>
                <a:latin typeface="Arial"/>
              </a:defRPr>
            </a:pPr>
            <a:r>
              <a:t>Metode SAW: Formulasi Rumus</a:t>
            </a:r>
          </a:p>
        </p:txBody>
      </p:sp>
      <p:sp>
        <p:nvSpPr>
          <p:cNvPr id="4" name="Rectangle 3"/>
          <p:cNvSpPr/>
          <p:nvPr/>
        </p:nvSpPr>
        <p:spPr>
          <a:xfrm>
            <a:off x="731520" y="109728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63040"/>
            <a:ext cx="5120640" cy="4572000"/>
          </a:xfrm>
          <a:prstGeom prst="roundRect">
            <a:avLst>
              <a:gd name="adj" fmla="val 5000"/>
            </a:avLst>
          </a:prstGeom>
          <a:solidFill>
            <a:srgbClr val="FFFFFF"/>
          </a:solidFill>
          <a:ln w="190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737360"/>
            <a:ext cx="4572000" cy="4023360"/>
          </a:xfrm>
          <a:prstGeom prst="rect">
            <a:avLst/>
          </a:prstGeom>
          <a:noFill/>
        </p:spPr>
        <p:txBody>
          <a:bodyPr wrap="square">
            <a:spAutoFit/>
          </a:bodyPr>
          <a:lstStyle/>
          <a:p>
            <a:pPr>
              <a:spcAft>
                <a:spcPts val="1000"/>
              </a:spcAft>
              <a:defRPr sz="1800" b="1">
                <a:solidFill>
                  <a:srgbClr val="0F172A"/>
                </a:solidFill>
                <a:latin typeface="Arial"/>
              </a:defRPr>
            </a:pPr>
            <a:r>
              <a:t>1. Normalisasi Matriks (rij)</a:t>
            </a:r>
          </a:p>
          <a:p>
            <a:pPr>
              <a:spcAft>
                <a:spcPts val="800"/>
              </a:spcAft>
            </a:pPr>
            <a:r>
              <a:rPr sz="1300" b="0">
                <a:solidFill>
                  <a:srgbClr val="1E293B"/>
                </a:solidFill>
                <a:latin typeface="Arial"/>
              </a:rPr>
              <a:t>Kriteria Benefit (Kualitas, Pengiriman, Layanan, Kapasitas):</a:t>
            </a:r>
          </a:p>
          <a:p>
            <a:pPr>
              <a:spcAft>
                <a:spcPts val="1000"/>
              </a:spcAft>
              <a:defRPr sz="1400" b="1">
                <a:solidFill>
                  <a:srgbClr val="3B82F6"/>
                </a:solidFill>
                <a:latin typeface="Courier New"/>
              </a:defRPr>
            </a:pPr>
            <a:r>
              <a:t>    rij = xij / max(xij)</a:t>
            </a:r>
          </a:p>
          <a:p>
            <a:pPr>
              <a:spcAft>
                <a:spcPts val="800"/>
              </a:spcAft>
            </a:pPr>
            <a:r>
              <a:rPr sz="1300" b="0">
                <a:solidFill>
                  <a:srgbClr val="1E293B"/>
                </a:solidFill>
                <a:latin typeface="Arial"/>
              </a:rPr>
              <a:t>Kriteria Cost (Harga):</a:t>
            </a:r>
          </a:p>
          <a:p>
            <a:pPr>
              <a:spcAft>
                <a:spcPts val="1000"/>
              </a:spcAft>
              <a:defRPr sz="1400" b="1">
                <a:solidFill>
                  <a:srgbClr val="3B82F6"/>
                </a:solidFill>
                <a:latin typeface="Courier New"/>
              </a:defRPr>
            </a:pPr>
            <a:r>
              <a:t>    rij = min(xij) / xij</a:t>
            </a:r>
          </a:p>
          <a:p>
            <a:pPr>
              <a:spcAft>
                <a:spcPts val="800"/>
              </a:spcAft>
            </a:pPr>
            <a:r>
              <a:rPr sz="1200" b="0">
                <a:solidFill>
                  <a:srgbClr val="1E293B"/>
                </a:solidFill>
                <a:latin typeface="Arial"/>
              </a:rPr>
              <a:t>xij: Nilai alternatif ke-i pada kriteria ke-j</a:t>
            </a:r>
          </a:p>
        </p:txBody>
      </p:sp>
      <p:sp>
        <p:nvSpPr>
          <p:cNvPr id="7" name="Rounded Rectangle 6"/>
          <p:cNvSpPr/>
          <p:nvPr/>
        </p:nvSpPr>
        <p:spPr>
          <a:xfrm>
            <a:off x="6339535" y="1463040"/>
            <a:ext cx="5120640" cy="4572000"/>
          </a:xfrm>
          <a:prstGeom prst="roundRect">
            <a:avLst>
              <a:gd name="adj" fmla="val 5000"/>
            </a:avLst>
          </a:prstGeom>
          <a:solidFill>
            <a:srgbClr val="FFFFFF"/>
          </a:solidFill>
          <a:ln w="190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737360"/>
            <a:ext cx="4572000" cy="4023360"/>
          </a:xfrm>
          <a:prstGeom prst="rect">
            <a:avLst/>
          </a:prstGeom>
          <a:noFill/>
        </p:spPr>
        <p:txBody>
          <a:bodyPr wrap="square">
            <a:spAutoFit/>
          </a:bodyPr>
          <a:lstStyle/>
          <a:p>
            <a:pPr>
              <a:spcAft>
                <a:spcPts val="1000"/>
              </a:spcAft>
              <a:defRPr sz="1800" b="1">
                <a:solidFill>
                  <a:srgbClr val="0F172A"/>
                </a:solidFill>
                <a:latin typeface="Arial"/>
              </a:defRPr>
            </a:pPr>
            <a:r>
              <a:t>2. Skor Preferensi Akhir (Vi)</a:t>
            </a:r>
          </a:p>
          <a:p>
            <a:pPr>
              <a:spcAft>
                <a:spcPts val="800"/>
              </a:spcAft>
            </a:pPr>
            <a:r>
              <a:rPr sz="1300" b="0">
                <a:solidFill>
                  <a:srgbClr val="1E293B"/>
                </a:solidFill>
                <a:latin typeface="Arial"/>
              </a:rPr>
              <a:t>Rumus Umum SAW:</a:t>
            </a:r>
          </a:p>
          <a:p>
            <a:pPr>
              <a:spcAft>
                <a:spcPts val="1000"/>
              </a:spcAft>
              <a:defRPr sz="1400" b="1">
                <a:solidFill>
                  <a:srgbClr val="3B82F6"/>
                </a:solidFill>
                <a:latin typeface="Courier New"/>
              </a:defRPr>
            </a:pPr>
            <a:r>
              <a:t>    Vi = Σ (wj × rij)</a:t>
            </a:r>
          </a:p>
          <a:p>
            <a:pPr>
              <a:spcAft>
                <a:spcPts val="800"/>
              </a:spcAft>
            </a:pPr>
            <a:r>
              <a:rPr sz="1300" b="0">
                <a:solidFill>
                  <a:srgbClr val="1E293B"/>
                </a:solidFill>
                <a:latin typeface="Arial"/>
              </a:rPr>
              <a:t>Modifikasi (Sistem CV AMM):</a:t>
            </a:r>
          </a:p>
          <a:p>
            <a:pPr>
              <a:spcAft>
                <a:spcPts val="1000"/>
              </a:spcAft>
              <a:defRPr sz="1400" b="1">
                <a:solidFill>
                  <a:srgbClr val="3B82F6"/>
                </a:solidFill>
                <a:latin typeface="Courier New"/>
              </a:defRPr>
            </a:pPr>
            <a:r>
              <a:t>    Vi = Σ (wj × rij) + Bi</a:t>
            </a:r>
          </a:p>
          <a:p>
            <a:pPr>
              <a:spcAft>
                <a:spcPts val="800"/>
              </a:spcAft>
            </a:pPr>
            <a:r>
              <a:rPr sz="1200" b="0">
                <a:solidFill>
                  <a:srgbClr val="1E293B"/>
                </a:solidFill>
                <a:latin typeface="Arial"/>
              </a:rPr>
              <a:t>Bi: Bonus ongkir = +0,05 (jika supplier menanggung ongkir, 0 jika tidak).</a:t>
            </a:r>
          </a:p>
          <a:p>
            <a:pPr>
              <a:spcAft>
                <a:spcPts val="800"/>
              </a:spcAft>
            </a:pPr>
            <a:r>
              <a:rPr sz="1200" b="0">
                <a:solidFill>
                  <a:srgbClr val="1E293B"/>
                </a:solidFill>
                <a:latin typeface="Arial"/>
              </a:rPr>
              <a:t>wj: Bobot dari kriteria ke-j.</a:t>
            </a:r>
          </a:p>
          <a:p>
            <a:pPr>
              <a:spcAft>
                <a:spcPts val="800"/>
              </a:spcAft>
            </a:pPr>
            <a:r>
              <a:rPr sz="1300" b="0">
                <a:solidFill>
                  <a:srgbClr val="1E293B"/>
                </a:solidFill>
                <a:latin typeface="Arial"/>
              </a:rPr>
              <a:t>Threshold Kelulusan: Vi ≥ 0,75 dinyatakan Direkomendasikan.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731520"/>
          </a:xfrm>
          <a:prstGeom prst="rect">
            <a:avLst/>
          </a:prstGeom>
          <a:noFill/>
        </p:spPr>
        <p:txBody>
          <a:bodyPr wrap="square" lIns="0" tIns="0" rIns="0" bIns="0">
            <a:spAutoFit/>
          </a:bodyPr>
          <a:lstStyle/>
          <a:p>
            <a:pPr>
              <a:defRPr sz="2800" b="1">
                <a:solidFill>
                  <a:srgbClr val="0F172A"/>
                </a:solidFill>
                <a:latin typeface="Arial"/>
              </a:defRPr>
            </a:pPr>
            <a:r>
              <a:t>Identifikasi Kriteria dan Bobot Penilaian</a:t>
            </a:r>
          </a:p>
        </p:txBody>
      </p:sp>
      <p:sp>
        <p:nvSpPr>
          <p:cNvPr id="4" name="Rectangle 3"/>
          <p:cNvSpPr/>
          <p:nvPr/>
        </p:nvSpPr>
        <p:spPr>
          <a:xfrm>
            <a:off x="731520" y="109728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extLst>
              <p:ext uri="{D42A27DB-BD31-4B8C-83A1-F6EECF244321}">
                <p14:modId xmlns:p14="http://schemas.microsoft.com/office/powerpoint/2010/main" val="3671628160"/>
              </p:ext>
            </p:extLst>
          </p:nvPr>
        </p:nvGraphicFramePr>
        <p:xfrm>
          <a:off x="731520" y="1645920"/>
          <a:ext cx="10728655" cy="411480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4693615">
                  <a:extLst>
                    <a:ext uri="{9D8B030D-6E8A-4147-A177-3AD203B41FA5}">
                      <a16:colId xmlns:a16="http://schemas.microsoft.com/office/drawing/2014/main" val="20004"/>
                    </a:ext>
                  </a:extLst>
                </a:gridCol>
              </a:tblGrid>
              <a:tr h="587828">
                <a:tc>
                  <a:txBody>
                    <a:bodyPr/>
                    <a:lstStyle/>
                    <a:p>
                      <a:pPr algn="ctr">
                        <a:defRPr sz="1400" b="1">
                          <a:solidFill>
                            <a:srgbClr val="FFFFFF"/>
                          </a:solidFill>
                          <a:latin typeface="Arial"/>
                        </a:defRPr>
                      </a:pPr>
                      <a:r>
                        <a:rPr dirty="0"/>
                        <a:t>No</a:t>
                      </a:r>
                    </a:p>
                  </a:txBody>
                  <a:tcPr>
                    <a:solidFill>
                      <a:srgbClr val="0B192C"/>
                    </a:solidFill>
                  </a:tcPr>
                </a:tc>
                <a:tc>
                  <a:txBody>
                    <a:bodyPr/>
                    <a:lstStyle/>
                    <a:p>
                      <a:pPr algn="ctr">
                        <a:defRPr sz="1400" b="1">
                          <a:solidFill>
                            <a:srgbClr val="FFFFFF"/>
                          </a:solidFill>
                          <a:latin typeface="Arial"/>
                        </a:defRPr>
                      </a:pPr>
                      <a:r>
                        <a:t>Kriteria</a:t>
                      </a:r>
                    </a:p>
                  </a:txBody>
                  <a:tcPr>
                    <a:solidFill>
                      <a:srgbClr val="0B192C"/>
                    </a:solidFill>
                  </a:tcPr>
                </a:tc>
                <a:tc>
                  <a:txBody>
                    <a:bodyPr/>
                    <a:lstStyle/>
                    <a:p>
                      <a:pPr algn="ctr">
                        <a:defRPr sz="1400" b="1">
                          <a:solidFill>
                            <a:srgbClr val="FFFFFF"/>
                          </a:solidFill>
                          <a:latin typeface="Arial"/>
                        </a:defRPr>
                      </a:pPr>
                      <a:r>
                        <a:t>Jenis</a:t>
                      </a:r>
                    </a:p>
                  </a:txBody>
                  <a:tcPr>
                    <a:solidFill>
                      <a:srgbClr val="0B192C"/>
                    </a:solidFill>
                  </a:tcPr>
                </a:tc>
                <a:tc>
                  <a:txBody>
                    <a:bodyPr/>
                    <a:lstStyle/>
                    <a:p>
                      <a:pPr algn="ctr">
                        <a:defRPr sz="1400" b="1">
                          <a:solidFill>
                            <a:srgbClr val="FFFFFF"/>
                          </a:solidFill>
                          <a:latin typeface="Arial"/>
                        </a:defRPr>
                      </a:pPr>
                      <a:r>
                        <a:t>Bobot</a:t>
                      </a:r>
                    </a:p>
                  </a:txBody>
                  <a:tcPr>
                    <a:solidFill>
                      <a:srgbClr val="0B192C"/>
                    </a:solidFill>
                  </a:tcPr>
                </a:tc>
                <a:tc>
                  <a:txBody>
                    <a:bodyPr/>
                    <a:lstStyle/>
                    <a:p>
                      <a:pPr algn="ctr">
                        <a:defRPr sz="1400" b="1">
                          <a:solidFill>
                            <a:srgbClr val="FFFFFF"/>
                          </a:solidFill>
                          <a:latin typeface="Arial"/>
                        </a:defRPr>
                      </a:pPr>
                      <a:r>
                        <a:t>Keterangan</a:t>
                      </a:r>
                    </a:p>
                  </a:txBody>
                  <a:tcPr>
                    <a:solidFill>
                      <a:srgbClr val="0B192C"/>
                    </a:solidFill>
                  </a:tcPr>
                </a:tc>
                <a:extLst>
                  <a:ext uri="{0D108BD9-81ED-4DB2-BD59-A6C34878D82A}">
                    <a16:rowId xmlns:a16="http://schemas.microsoft.com/office/drawing/2014/main" val="10000"/>
                  </a:ext>
                </a:extLst>
              </a:tr>
              <a:tr h="587828">
                <a:tc>
                  <a:txBody>
                    <a:bodyPr/>
                    <a:lstStyle/>
                    <a:p>
                      <a:pPr algn="ctr">
                        <a:defRPr sz="1200">
                          <a:solidFill>
                            <a:srgbClr val="1E293B"/>
                          </a:solidFill>
                          <a:latin typeface="Arial"/>
                        </a:defRPr>
                      </a:pPr>
                      <a:r>
                        <a:t>1</a:t>
                      </a:r>
                    </a:p>
                  </a:txBody>
                  <a:tcPr>
                    <a:solidFill>
                      <a:srgbClr val="FFFFFF"/>
                    </a:solidFill>
                  </a:tcPr>
                </a:tc>
                <a:tc>
                  <a:txBody>
                    <a:bodyPr/>
                    <a:lstStyle/>
                    <a:p>
                      <a:pPr algn="ctr">
                        <a:defRPr sz="1200">
                          <a:solidFill>
                            <a:srgbClr val="1E293B"/>
                          </a:solidFill>
                          <a:latin typeface="Arial"/>
                        </a:defRPr>
                      </a:pPr>
                      <a:r>
                        <a:t>Harga (C1)</a:t>
                      </a:r>
                    </a:p>
                  </a:txBody>
                  <a:tcPr>
                    <a:solidFill>
                      <a:srgbClr val="FFFFFF"/>
                    </a:solidFill>
                  </a:tcPr>
                </a:tc>
                <a:tc>
                  <a:txBody>
                    <a:bodyPr/>
                    <a:lstStyle/>
                    <a:p>
                      <a:pPr algn="ctr">
                        <a:defRPr sz="1200">
                          <a:solidFill>
                            <a:srgbClr val="1E293B"/>
                          </a:solidFill>
                          <a:latin typeface="Arial"/>
                        </a:defRPr>
                      </a:pPr>
                      <a:r>
                        <a:t>Cost (Biaya)</a:t>
                      </a:r>
                    </a:p>
                  </a:txBody>
                  <a:tcPr>
                    <a:solidFill>
                      <a:srgbClr val="FFFFFF"/>
                    </a:solidFill>
                  </a:tcPr>
                </a:tc>
                <a:tc>
                  <a:txBody>
                    <a:bodyPr/>
                    <a:lstStyle/>
                    <a:p>
                      <a:pPr algn="ctr">
                        <a:defRPr sz="1200">
                          <a:solidFill>
                            <a:srgbClr val="1E293B"/>
                          </a:solidFill>
                          <a:latin typeface="Arial"/>
                        </a:defRPr>
                      </a:pPr>
                      <a:r>
                        <a:t>30%</a:t>
                      </a:r>
                    </a:p>
                  </a:txBody>
                  <a:tcPr>
                    <a:solidFill>
                      <a:srgbClr val="FFFFFF"/>
                    </a:solidFill>
                  </a:tcPr>
                </a:tc>
                <a:tc>
                  <a:txBody>
                    <a:bodyPr/>
                    <a:lstStyle/>
                    <a:p>
                      <a:pPr algn="l">
                        <a:defRPr sz="1200">
                          <a:solidFill>
                            <a:srgbClr val="1E293B"/>
                          </a:solidFill>
                          <a:latin typeface="Arial"/>
                        </a:defRPr>
                      </a:pPr>
                      <a:r>
                        <a:t>Semakin murah harga, semakin baik</a:t>
                      </a:r>
                    </a:p>
                  </a:txBody>
                  <a:tcPr>
                    <a:solidFill>
                      <a:srgbClr val="FFFFFF"/>
                    </a:solidFill>
                  </a:tcPr>
                </a:tc>
                <a:extLst>
                  <a:ext uri="{0D108BD9-81ED-4DB2-BD59-A6C34878D82A}">
                    <a16:rowId xmlns:a16="http://schemas.microsoft.com/office/drawing/2014/main" val="10001"/>
                  </a:ext>
                </a:extLst>
              </a:tr>
              <a:tr h="587828">
                <a:tc>
                  <a:txBody>
                    <a:bodyPr/>
                    <a:lstStyle/>
                    <a:p>
                      <a:pPr algn="ctr">
                        <a:defRPr sz="1200">
                          <a:solidFill>
                            <a:srgbClr val="1E293B"/>
                          </a:solidFill>
                          <a:latin typeface="Arial"/>
                        </a:defRPr>
                      </a:pPr>
                      <a:r>
                        <a:t>2</a:t>
                      </a:r>
                    </a:p>
                  </a:txBody>
                  <a:tcPr>
                    <a:solidFill>
                      <a:srgbClr val="F0F4F8"/>
                    </a:solidFill>
                  </a:tcPr>
                </a:tc>
                <a:tc>
                  <a:txBody>
                    <a:bodyPr/>
                    <a:lstStyle/>
                    <a:p>
                      <a:pPr algn="ctr">
                        <a:defRPr sz="1200">
                          <a:solidFill>
                            <a:srgbClr val="1E293B"/>
                          </a:solidFill>
                          <a:latin typeface="Arial"/>
                        </a:defRPr>
                      </a:pPr>
                      <a:r>
                        <a:t>Kualitas (C2)</a:t>
                      </a:r>
                    </a:p>
                  </a:txBody>
                  <a:tcPr>
                    <a:solidFill>
                      <a:srgbClr val="F0F4F8"/>
                    </a:solidFill>
                  </a:tcPr>
                </a:tc>
                <a:tc>
                  <a:txBody>
                    <a:bodyPr/>
                    <a:lstStyle/>
                    <a:p>
                      <a:pPr algn="ctr">
                        <a:defRPr sz="1200">
                          <a:solidFill>
                            <a:srgbClr val="1E293B"/>
                          </a:solidFill>
                          <a:latin typeface="Arial"/>
                        </a:defRPr>
                      </a:pPr>
                      <a:r>
                        <a:t>Benefit (Keuntungan)</a:t>
                      </a:r>
                    </a:p>
                  </a:txBody>
                  <a:tcPr>
                    <a:solidFill>
                      <a:srgbClr val="F0F4F8"/>
                    </a:solidFill>
                  </a:tcPr>
                </a:tc>
                <a:tc>
                  <a:txBody>
                    <a:bodyPr/>
                    <a:lstStyle/>
                    <a:p>
                      <a:pPr algn="ctr">
                        <a:defRPr sz="1200">
                          <a:solidFill>
                            <a:srgbClr val="1E293B"/>
                          </a:solidFill>
                          <a:latin typeface="Arial"/>
                        </a:defRPr>
                      </a:pPr>
                      <a:r>
                        <a:t>30%</a:t>
                      </a:r>
                    </a:p>
                  </a:txBody>
                  <a:tcPr>
                    <a:solidFill>
                      <a:srgbClr val="F0F4F8"/>
                    </a:solidFill>
                  </a:tcPr>
                </a:tc>
                <a:tc>
                  <a:txBody>
                    <a:bodyPr/>
                    <a:lstStyle/>
                    <a:p>
                      <a:pPr algn="l">
                        <a:defRPr sz="1200">
                          <a:solidFill>
                            <a:srgbClr val="1E293B"/>
                          </a:solidFill>
                          <a:latin typeface="Arial"/>
                        </a:defRPr>
                      </a:pPr>
                      <a:r>
                        <a:t>Semakin baik kualitas, semakin baik</a:t>
                      </a:r>
                    </a:p>
                  </a:txBody>
                  <a:tcPr>
                    <a:solidFill>
                      <a:srgbClr val="F0F4F8"/>
                    </a:solidFill>
                  </a:tcPr>
                </a:tc>
                <a:extLst>
                  <a:ext uri="{0D108BD9-81ED-4DB2-BD59-A6C34878D82A}">
                    <a16:rowId xmlns:a16="http://schemas.microsoft.com/office/drawing/2014/main" val="10002"/>
                  </a:ext>
                </a:extLst>
              </a:tr>
              <a:tr h="587828">
                <a:tc>
                  <a:txBody>
                    <a:bodyPr/>
                    <a:lstStyle/>
                    <a:p>
                      <a:pPr algn="ctr">
                        <a:defRPr sz="1200">
                          <a:solidFill>
                            <a:srgbClr val="1E293B"/>
                          </a:solidFill>
                          <a:latin typeface="Arial"/>
                        </a:defRPr>
                      </a:pPr>
                      <a:r>
                        <a:t>3</a:t>
                      </a:r>
                    </a:p>
                  </a:txBody>
                  <a:tcPr>
                    <a:solidFill>
                      <a:srgbClr val="FFFFFF"/>
                    </a:solidFill>
                  </a:tcPr>
                </a:tc>
                <a:tc>
                  <a:txBody>
                    <a:bodyPr/>
                    <a:lstStyle/>
                    <a:p>
                      <a:pPr algn="ctr">
                        <a:defRPr sz="1200">
                          <a:solidFill>
                            <a:srgbClr val="1E293B"/>
                          </a:solidFill>
                          <a:latin typeface="Arial"/>
                        </a:defRPr>
                      </a:pPr>
                      <a:r>
                        <a:t>Pengiriman (C3)</a:t>
                      </a:r>
                    </a:p>
                  </a:txBody>
                  <a:tcPr>
                    <a:solidFill>
                      <a:srgbClr val="FFFFFF"/>
                    </a:solidFill>
                  </a:tcPr>
                </a:tc>
                <a:tc>
                  <a:txBody>
                    <a:bodyPr/>
                    <a:lstStyle/>
                    <a:p>
                      <a:pPr algn="ctr">
                        <a:defRPr sz="1200">
                          <a:solidFill>
                            <a:srgbClr val="1E293B"/>
                          </a:solidFill>
                          <a:latin typeface="Arial"/>
                        </a:defRPr>
                      </a:pPr>
                      <a:r>
                        <a:t>Benefit (Keuntungan)</a:t>
                      </a:r>
                    </a:p>
                  </a:txBody>
                  <a:tcPr>
                    <a:solidFill>
                      <a:srgbClr val="FFFFFF"/>
                    </a:solidFill>
                  </a:tcPr>
                </a:tc>
                <a:tc>
                  <a:txBody>
                    <a:bodyPr/>
                    <a:lstStyle/>
                    <a:p>
                      <a:pPr algn="ctr">
                        <a:defRPr sz="1200">
                          <a:solidFill>
                            <a:srgbClr val="1E293B"/>
                          </a:solidFill>
                          <a:latin typeface="Arial"/>
                        </a:defRPr>
                      </a:pPr>
                      <a:r>
                        <a:t>20%</a:t>
                      </a:r>
                    </a:p>
                  </a:txBody>
                  <a:tcPr>
                    <a:solidFill>
                      <a:srgbClr val="FFFFFF"/>
                    </a:solidFill>
                  </a:tcPr>
                </a:tc>
                <a:tc>
                  <a:txBody>
                    <a:bodyPr/>
                    <a:lstStyle/>
                    <a:p>
                      <a:pPr algn="l">
                        <a:defRPr sz="1200">
                          <a:solidFill>
                            <a:srgbClr val="1E293B"/>
                          </a:solidFill>
                          <a:latin typeface="Arial"/>
                        </a:defRPr>
                      </a:pPr>
                      <a:r>
                        <a:t>Semakin cepat &amp; tepat, semakin baik</a:t>
                      </a:r>
                    </a:p>
                  </a:txBody>
                  <a:tcPr>
                    <a:solidFill>
                      <a:srgbClr val="FFFFFF"/>
                    </a:solidFill>
                  </a:tcPr>
                </a:tc>
                <a:extLst>
                  <a:ext uri="{0D108BD9-81ED-4DB2-BD59-A6C34878D82A}">
                    <a16:rowId xmlns:a16="http://schemas.microsoft.com/office/drawing/2014/main" val="10003"/>
                  </a:ext>
                </a:extLst>
              </a:tr>
              <a:tr h="587828">
                <a:tc>
                  <a:txBody>
                    <a:bodyPr/>
                    <a:lstStyle/>
                    <a:p>
                      <a:pPr algn="ctr">
                        <a:defRPr sz="1200">
                          <a:solidFill>
                            <a:srgbClr val="1E293B"/>
                          </a:solidFill>
                          <a:latin typeface="Arial"/>
                        </a:defRPr>
                      </a:pPr>
                      <a:r>
                        <a:t>4</a:t>
                      </a:r>
                    </a:p>
                  </a:txBody>
                  <a:tcPr>
                    <a:solidFill>
                      <a:srgbClr val="F0F4F8"/>
                    </a:solidFill>
                  </a:tcPr>
                </a:tc>
                <a:tc>
                  <a:txBody>
                    <a:bodyPr/>
                    <a:lstStyle/>
                    <a:p>
                      <a:pPr algn="ctr">
                        <a:defRPr sz="1200">
                          <a:solidFill>
                            <a:srgbClr val="1E293B"/>
                          </a:solidFill>
                          <a:latin typeface="Arial"/>
                        </a:defRPr>
                      </a:pPr>
                      <a:r>
                        <a:t>Layanan (C4)</a:t>
                      </a:r>
                    </a:p>
                  </a:txBody>
                  <a:tcPr>
                    <a:solidFill>
                      <a:srgbClr val="F0F4F8"/>
                    </a:solidFill>
                  </a:tcPr>
                </a:tc>
                <a:tc>
                  <a:txBody>
                    <a:bodyPr/>
                    <a:lstStyle/>
                    <a:p>
                      <a:pPr algn="ctr">
                        <a:defRPr sz="1200">
                          <a:solidFill>
                            <a:srgbClr val="1E293B"/>
                          </a:solidFill>
                          <a:latin typeface="Arial"/>
                        </a:defRPr>
                      </a:pPr>
                      <a:r>
                        <a:t>Benefit (Keuntungan)</a:t>
                      </a:r>
                    </a:p>
                  </a:txBody>
                  <a:tcPr>
                    <a:solidFill>
                      <a:srgbClr val="F0F4F8"/>
                    </a:solidFill>
                  </a:tcPr>
                </a:tc>
                <a:tc>
                  <a:txBody>
                    <a:bodyPr/>
                    <a:lstStyle/>
                    <a:p>
                      <a:pPr algn="ctr">
                        <a:defRPr sz="1200">
                          <a:solidFill>
                            <a:srgbClr val="1E293B"/>
                          </a:solidFill>
                          <a:latin typeface="Arial"/>
                        </a:defRPr>
                      </a:pPr>
                      <a:r>
                        <a:t>10%</a:t>
                      </a:r>
                    </a:p>
                  </a:txBody>
                  <a:tcPr>
                    <a:solidFill>
                      <a:srgbClr val="F0F4F8"/>
                    </a:solidFill>
                  </a:tcPr>
                </a:tc>
                <a:tc>
                  <a:txBody>
                    <a:bodyPr/>
                    <a:lstStyle/>
                    <a:p>
                      <a:pPr algn="l">
                        <a:defRPr sz="1200">
                          <a:solidFill>
                            <a:srgbClr val="1E293B"/>
                          </a:solidFill>
                          <a:latin typeface="Arial"/>
                        </a:defRPr>
                      </a:pPr>
                      <a:r>
                        <a:t>Semakin responsif, semakin baik</a:t>
                      </a:r>
                    </a:p>
                  </a:txBody>
                  <a:tcPr>
                    <a:solidFill>
                      <a:srgbClr val="F0F4F8"/>
                    </a:solidFill>
                  </a:tcPr>
                </a:tc>
                <a:extLst>
                  <a:ext uri="{0D108BD9-81ED-4DB2-BD59-A6C34878D82A}">
                    <a16:rowId xmlns:a16="http://schemas.microsoft.com/office/drawing/2014/main" val="10004"/>
                  </a:ext>
                </a:extLst>
              </a:tr>
              <a:tr h="587828">
                <a:tc>
                  <a:txBody>
                    <a:bodyPr/>
                    <a:lstStyle/>
                    <a:p>
                      <a:pPr algn="ctr">
                        <a:defRPr sz="1200">
                          <a:solidFill>
                            <a:srgbClr val="1E293B"/>
                          </a:solidFill>
                          <a:latin typeface="Arial"/>
                        </a:defRPr>
                      </a:pPr>
                      <a:r>
                        <a:t>5</a:t>
                      </a:r>
                    </a:p>
                  </a:txBody>
                  <a:tcPr>
                    <a:solidFill>
                      <a:srgbClr val="FFFFFF"/>
                    </a:solidFill>
                  </a:tcPr>
                </a:tc>
                <a:tc>
                  <a:txBody>
                    <a:bodyPr/>
                    <a:lstStyle/>
                    <a:p>
                      <a:pPr algn="ctr">
                        <a:defRPr sz="1200">
                          <a:solidFill>
                            <a:srgbClr val="1E293B"/>
                          </a:solidFill>
                          <a:latin typeface="Arial"/>
                        </a:defRPr>
                      </a:pPr>
                      <a:r>
                        <a:t>Kapasitas (C5)</a:t>
                      </a:r>
                    </a:p>
                  </a:txBody>
                  <a:tcPr>
                    <a:solidFill>
                      <a:srgbClr val="FFFFFF"/>
                    </a:solidFill>
                  </a:tcPr>
                </a:tc>
                <a:tc>
                  <a:txBody>
                    <a:bodyPr/>
                    <a:lstStyle/>
                    <a:p>
                      <a:pPr algn="ctr">
                        <a:defRPr sz="1200">
                          <a:solidFill>
                            <a:srgbClr val="1E293B"/>
                          </a:solidFill>
                          <a:latin typeface="Arial"/>
                        </a:defRPr>
                      </a:pPr>
                      <a:r>
                        <a:t>Benefit (Keuntungan)</a:t>
                      </a:r>
                    </a:p>
                  </a:txBody>
                  <a:tcPr>
                    <a:solidFill>
                      <a:srgbClr val="FFFFFF"/>
                    </a:solidFill>
                  </a:tcPr>
                </a:tc>
                <a:tc>
                  <a:txBody>
                    <a:bodyPr/>
                    <a:lstStyle/>
                    <a:p>
                      <a:pPr algn="ctr">
                        <a:defRPr sz="1200">
                          <a:solidFill>
                            <a:srgbClr val="1E293B"/>
                          </a:solidFill>
                          <a:latin typeface="Arial"/>
                        </a:defRPr>
                      </a:pPr>
                      <a:r>
                        <a:t>10%</a:t>
                      </a:r>
                    </a:p>
                  </a:txBody>
                  <a:tcPr>
                    <a:solidFill>
                      <a:srgbClr val="FFFFFF"/>
                    </a:solidFill>
                  </a:tcPr>
                </a:tc>
                <a:tc>
                  <a:txBody>
                    <a:bodyPr/>
                    <a:lstStyle/>
                    <a:p>
                      <a:pPr algn="l">
                        <a:defRPr sz="1200">
                          <a:solidFill>
                            <a:srgbClr val="1E293B"/>
                          </a:solidFill>
                          <a:latin typeface="Arial"/>
                        </a:defRPr>
                      </a:pPr>
                      <a:r>
                        <a:t>Semakin besar kapasitas stok, semakin baik</a:t>
                      </a:r>
                    </a:p>
                  </a:txBody>
                  <a:tcPr>
                    <a:solidFill>
                      <a:srgbClr val="FFFFFF"/>
                    </a:solidFill>
                  </a:tcPr>
                </a:tc>
                <a:extLst>
                  <a:ext uri="{0D108BD9-81ED-4DB2-BD59-A6C34878D82A}">
                    <a16:rowId xmlns:a16="http://schemas.microsoft.com/office/drawing/2014/main" val="10005"/>
                  </a:ext>
                </a:extLst>
              </a:tr>
              <a:tr h="587832">
                <a:tc>
                  <a:txBody>
                    <a:bodyPr/>
                    <a:lstStyle/>
                    <a:p>
                      <a:pPr algn="ctr">
                        <a:defRPr sz="1200">
                          <a:solidFill>
                            <a:srgbClr val="1E293B"/>
                          </a:solidFill>
                          <a:latin typeface="Arial"/>
                        </a:defRPr>
                      </a:pPr>
                      <a:r>
                        <a:t>-</a:t>
                      </a:r>
                    </a:p>
                  </a:txBody>
                  <a:tcPr>
                    <a:solidFill>
                      <a:srgbClr val="F0F4F8"/>
                    </a:solidFill>
                  </a:tcPr>
                </a:tc>
                <a:tc>
                  <a:txBody>
                    <a:bodyPr/>
                    <a:lstStyle/>
                    <a:p>
                      <a:pPr algn="ctr">
                        <a:defRPr sz="1200">
                          <a:solidFill>
                            <a:srgbClr val="1E293B"/>
                          </a:solidFill>
                          <a:latin typeface="Arial"/>
                        </a:defRPr>
                      </a:pPr>
                      <a:r>
                        <a:t>Bonus Ongkir</a:t>
                      </a:r>
                    </a:p>
                  </a:txBody>
                  <a:tcPr>
                    <a:solidFill>
                      <a:srgbClr val="F0F4F8"/>
                    </a:solidFill>
                  </a:tcPr>
                </a:tc>
                <a:tc>
                  <a:txBody>
                    <a:bodyPr/>
                    <a:lstStyle/>
                    <a:p>
                      <a:pPr algn="ctr">
                        <a:defRPr sz="1200">
                          <a:solidFill>
                            <a:srgbClr val="1E293B"/>
                          </a:solidFill>
                          <a:latin typeface="Arial"/>
                        </a:defRPr>
                      </a:pPr>
                      <a:r>
                        <a:t>Tambahan</a:t>
                      </a:r>
                    </a:p>
                  </a:txBody>
                  <a:tcPr>
                    <a:solidFill>
                      <a:srgbClr val="F0F4F8"/>
                    </a:solidFill>
                  </a:tcPr>
                </a:tc>
                <a:tc>
                  <a:txBody>
                    <a:bodyPr/>
                    <a:lstStyle/>
                    <a:p>
                      <a:pPr algn="ctr">
                        <a:defRPr sz="1200">
                          <a:solidFill>
                            <a:srgbClr val="1E293B"/>
                          </a:solidFill>
                          <a:latin typeface="Arial"/>
                        </a:defRPr>
                      </a:pPr>
                      <a:r>
                        <a:t>+0.05</a:t>
                      </a:r>
                    </a:p>
                  </a:txBody>
                  <a:tcPr>
                    <a:solidFill>
                      <a:srgbClr val="F0F4F8"/>
                    </a:solidFill>
                  </a:tcPr>
                </a:tc>
                <a:tc>
                  <a:txBody>
                    <a:bodyPr/>
                    <a:lstStyle/>
                    <a:p>
                      <a:pPr algn="l">
                        <a:defRPr sz="1200">
                          <a:solidFill>
                            <a:srgbClr val="1E293B"/>
                          </a:solidFill>
                          <a:latin typeface="Arial"/>
                        </a:defRPr>
                      </a:pPr>
                      <a:r>
                        <a:rPr dirty="0" err="1"/>
                        <a:t>Diberikan</a:t>
                      </a:r>
                      <a:r>
                        <a:rPr dirty="0"/>
                        <a:t> </a:t>
                      </a:r>
                      <a:r>
                        <a:rPr dirty="0" err="1"/>
                        <a:t>jika</a:t>
                      </a:r>
                      <a:r>
                        <a:rPr dirty="0"/>
                        <a:t> supplier </a:t>
                      </a:r>
                      <a:r>
                        <a:rPr dirty="0" err="1"/>
                        <a:t>menanggung</a:t>
                      </a:r>
                      <a:r>
                        <a:rPr dirty="0"/>
                        <a:t> </a:t>
                      </a:r>
                      <a:r>
                        <a:rPr dirty="0" err="1"/>
                        <a:t>ongkos</a:t>
                      </a:r>
                      <a:r>
                        <a:rPr dirty="0"/>
                        <a:t> </a:t>
                      </a:r>
                      <a:r>
                        <a:rPr dirty="0" err="1"/>
                        <a:t>kirim</a:t>
                      </a:r>
                      <a:endParaRPr dirty="0"/>
                    </a:p>
                  </a:txBody>
                  <a:tcPr>
                    <a:solidFill>
                      <a:srgbClr val="F0F4F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731520"/>
          </a:xfrm>
          <a:prstGeom prst="rect">
            <a:avLst/>
          </a:prstGeom>
          <a:noFill/>
        </p:spPr>
        <p:txBody>
          <a:bodyPr wrap="square" lIns="0" tIns="0" rIns="0" bIns="0">
            <a:spAutoFit/>
          </a:bodyPr>
          <a:lstStyle/>
          <a:p>
            <a:pPr>
              <a:defRPr sz="2800" b="1">
                <a:solidFill>
                  <a:srgbClr val="0F172A"/>
                </a:solidFill>
                <a:latin typeface="Arial"/>
              </a:defRPr>
            </a:pPr>
            <a:r>
              <a:t>Data Penilaian Alternatif (Skala 1-10)</a:t>
            </a:r>
          </a:p>
        </p:txBody>
      </p:sp>
      <p:sp>
        <p:nvSpPr>
          <p:cNvPr id="4" name="Rectangle 3"/>
          <p:cNvSpPr/>
          <p:nvPr/>
        </p:nvSpPr>
        <p:spPr>
          <a:xfrm>
            <a:off x="731520" y="109728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731520" y="1645920"/>
          <a:ext cx="10728655" cy="411480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1401775">
                  <a:extLst>
                    <a:ext uri="{9D8B030D-6E8A-4147-A177-3AD203B41FA5}">
                      <a16:colId xmlns:a16="http://schemas.microsoft.com/office/drawing/2014/main" val="20006"/>
                    </a:ext>
                  </a:extLst>
                </a:gridCol>
              </a:tblGrid>
              <a:tr h="685800">
                <a:tc>
                  <a:txBody>
                    <a:bodyPr/>
                    <a:lstStyle/>
                    <a:p>
                      <a:pPr algn="ctr">
                        <a:defRPr sz="1300" b="1">
                          <a:solidFill>
                            <a:srgbClr val="FFFFFF"/>
                          </a:solidFill>
                          <a:latin typeface="Arial"/>
                        </a:defRPr>
                      </a:pPr>
                      <a:r>
                        <a:t>Alternatif (Supplier)</a:t>
                      </a:r>
                    </a:p>
                  </a:txBody>
                  <a:tcPr>
                    <a:solidFill>
                      <a:srgbClr val="0B192C"/>
                    </a:solidFill>
                  </a:tcPr>
                </a:tc>
                <a:tc>
                  <a:txBody>
                    <a:bodyPr/>
                    <a:lstStyle/>
                    <a:p>
                      <a:pPr algn="ctr">
                        <a:defRPr sz="1300" b="1">
                          <a:solidFill>
                            <a:srgbClr val="FFFFFF"/>
                          </a:solidFill>
                          <a:latin typeface="Arial"/>
                        </a:defRPr>
                      </a:pPr>
                      <a:r>
                        <a:t>Harga (C1)</a:t>
                      </a:r>
                    </a:p>
                  </a:txBody>
                  <a:tcPr>
                    <a:solidFill>
                      <a:srgbClr val="0B192C"/>
                    </a:solidFill>
                  </a:tcPr>
                </a:tc>
                <a:tc>
                  <a:txBody>
                    <a:bodyPr/>
                    <a:lstStyle/>
                    <a:p>
                      <a:pPr algn="ctr">
                        <a:defRPr sz="1300" b="1">
                          <a:solidFill>
                            <a:srgbClr val="FFFFFF"/>
                          </a:solidFill>
                          <a:latin typeface="Arial"/>
                        </a:defRPr>
                      </a:pPr>
                      <a:r>
                        <a:t>Kualitas (C2)</a:t>
                      </a:r>
                    </a:p>
                  </a:txBody>
                  <a:tcPr>
                    <a:solidFill>
                      <a:srgbClr val="0B192C"/>
                    </a:solidFill>
                  </a:tcPr>
                </a:tc>
                <a:tc>
                  <a:txBody>
                    <a:bodyPr/>
                    <a:lstStyle/>
                    <a:p>
                      <a:pPr algn="ctr">
                        <a:defRPr sz="1300" b="1">
                          <a:solidFill>
                            <a:srgbClr val="FFFFFF"/>
                          </a:solidFill>
                          <a:latin typeface="Arial"/>
                        </a:defRPr>
                      </a:pPr>
                      <a:r>
                        <a:t>Pengiriman (C3)</a:t>
                      </a:r>
                    </a:p>
                  </a:txBody>
                  <a:tcPr>
                    <a:solidFill>
                      <a:srgbClr val="0B192C"/>
                    </a:solidFill>
                  </a:tcPr>
                </a:tc>
                <a:tc>
                  <a:txBody>
                    <a:bodyPr/>
                    <a:lstStyle/>
                    <a:p>
                      <a:pPr algn="ctr">
                        <a:defRPr sz="1300" b="1">
                          <a:solidFill>
                            <a:srgbClr val="FFFFFF"/>
                          </a:solidFill>
                          <a:latin typeface="Arial"/>
                        </a:defRPr>
                      </a:pPr>
                      <a:r>
                        <a:t>Layanan (C4)</a:t>
                      </a:r>
                    </a:p>
                  </a:txBody>
                  <a:tcPr>
                    <a:solidFill>
                      <a:srgbClr val="0B192C"/>
                    </a:solidFill>
                  </a:tcPr>
                </a:tc>
                <a:tc>
                  <a:txBody>
                    <a:bodyPr/>
                    <a:lstStyle/>
                    <a:p>
                      <a:pPr algn="ctr">
                        <a:defRPr sz="1300" b="1">
                          <a:solidFill>
                            <a:srgbClr val="FFFFFF"/>
                          </a:solidFill>
                          <a:latin typeface="Arial"/>
                        </a:defRPr>
                      </a:pPr>
                      <a:r>
                        <a:t>Kapasitas (C5)</a:t>
                      </a:r>
                    </a:p>
                  </a:txBody>
                  <a:tcPr>
                    <a:solidFill>
                      <a:srgbClr val="0B192C"/>
                    </a:solidFill>
                  </a:tcPr>
                </a:tc>
                <a:tc>
                  <a:txBody>
                    <a:bodyPr/>
                    <a:lstStyle/>
                    <a:p>
                      <a:pPr algn="ctr">
                        <a:defRPr sz="1300" b="1">
                          <a:solidFill>
                            <a:srgbClr val="FFFFFF"/>
                          </a:solidFill>
                          <a:latin typeface="Arial"/>
                        </a:defRPr>
                      </a:pPr>
                      <a:r>
                        <a:t>Ongkir</a:t>
                      </a:r>
                    </a:p>
                  </a:txBody>
                  <a:tcPr>
                    <a:solidFill>
                      <a:srgbClr val="0B192C"/>
                    </a:solidFill>
                  </a:tcPr>
                </a:tc>
                <a:extLst>
                  <a:ext uri="{0D108BD9-81ED-4DB2-BD59-A6C34878D82A}">
                    <a16:rowId xmlns:a16="http://schemas.microsoft.com/office/drawing/2014/main" val="10000"/>
                  </a:ext>
                </a:extLst>
              </a:tr>
              <a:tr h="685800">
                <a:tc>
                  <a:txBody>
                    <a:bodyPr/>
                    <a:lstStyle/>
                    <a:p>
                      <a:pPr algn="l">
                        <a:defRPr sz="1200">
                          <a:solidFill>
                            <a:srgbClr val="1E293B"/>
                          </a:solidFill>
                          <a:latin typeface="Arial"/>
                        </a:defRPr>
                      </a:pPr>
                      <a:r>
                        <a:t>Pontianak Mobile Grosir</a:t>
                      </a:r>
                    </a:p>
                  </a:txBody>
                  <a:tcPr>
                    <a:solidFill>
                      <a:srgbClr val="FFFFFF"/>
                    </a:solidFill>
                  </a:tcPr>
                </a:tc>
                <a:tc>
                  <a:txBody>
                    <a:bodyPr/>
                    <a:lstStyle/>
                    <a:p>
                      <a:pPr algn="ctr">
                        <a:defRPr sz="1200">
                          <a:solidFill>
                            <a:srgbClr val="1E293B"/>
                          </a:solidFill>
                          <a:latin typeface="Arial"/>
                        </a:defRPr>
                      </a:pPr>
                      <a:r>
                        <a:t>9.1</a:t>
                      </a:r>
                    </a:p>
                  </a:txBody>
                  <a:tcPr>
                    <a:solidFill>
                      <a:srgbClr val="FFFFFF"/>
                    </a:solidFill>
                  </a:tcPr>
                </a:tc>
                <a:tc>
                  <a:txBody>
                    <a:bodyPr/>
                    <a:lstStyle/>
                    <a:p>
                      <a:pPr algn="ctr">
                        <a:defRPr sz="1200">
                          <a:solidFill>
                            <a:srgbClr val="1E293B"/>
                          </a:solidFill>
                          <a:latin typeface="Arial"/>
                        </a:defRPr>
                      </a:pPr>
                      <a:r>
                        <a:t>9.0</a:t>
                      </a:r>
                    </a:p>
                  </a:txBody>
                  <a:tcPr>
                    <a:solidFill>
                      <a:srgbClr val="FFFFFF"/>
                    </a:solidFill>
                  </a:tcPr>
                </a:tc>
                <a:tc>
                  <a:txBody>
                    <a:bodyPr/>
                    <a:lstStyle/>
                    <a:p>
                      <a:pPr algn="ctr">
                        <a:defRPr sz="1200">
                          <a:solidFill>
                            <a:srgbClr val="1E293B"/>
                          </a:solidFill>
                          <a:latin typeface="Arial"/>
                        </a:defRPr>
                      </a:pPr>
                      <a:r>
                        <a:t>8.8</a:t>
                      </a:r>
                    </a:p>
                  </a:txBody>
                  <a:tcPr>
                    <a:solidFill>
                      <a:srgbClr val="FFFFFF"/>
                    </a:solidFill>
                  </a:tcPr>
                </a:tc>
                <a:tc>
                  <a:txBody>
                    <a:bodyPr/>
                    <a:lstStyle/>
                    <a:p>
                      <a:pPr algn="ctr">
                        <a:defRPr sz="1200">
                          <a:solidFill>
                            <a:srgbClr val="1E293B"/>
                          </a:solidFill>
                          <a:latin typeface="Arial"/>
                        </a:defRPr>
                      </a:pPr>
                      <a:r>
                        <a:t>8.6</a:t>
                      </a:r>
                    </a:p>
                  </a:txBody>
                  <a:tcPr>
                    <a:solidFill>
                      <a:srgbClr val="FFFFFF"/>
                    </a:solidFill>
                  </a:tcPr>
                </a:tc>
                <a:tc>
                  <a:txBody>
                    <a:bodyPr/>
                    <a:lstStyle/>
                    <a:p>
                      <a:pPr algn="ctr">
                        <a:defRPr sz="1200">
                          <a:solidFill>
                            <a:srgbClr val="1E293B"/>
                          </a:solidFill>
                          <a:latin typeface="Arial"/>
                        </a:defRPr>
                      </a:pPr>
                      <a:r>
                        <a:t>9.2</a:t>
                      </a:r>
                    </a:p>
                  </a:txBody>
                  <a:tcPr>
                    <a:solidFill>
                      <a:srgbClr val="FFFFFF"/>
                    </a:solidFill>
                  </a:tcPr>
                </a:tc>
                <a:tc>
                  <a:txBody>
                    <a:bodyPr/>
                    <a:lstStyle/>
                    <a:p>
                      <a:pPr algn="ctr">
                        <a:defRPr sz="1200">
                          <a:solidFill>
                            <a:srgbClr val="1E293B"/>
                          </a:solidFill>
                          <a:latin typeface="Arial"/>
                        </a:defRPr>
                      </a:pPr>
                      <a:r>
                        <a:t>Tidak</a:t>
                      </a:r>
                    </a:p>
                  </a:txBody>
                  <a:tcPr>
                    <a:solidFill>
                      <a:srgbClr val="FFFFFF"/>
                    </a:solidFill>
                  </a:tcPr>
                </a:tc>
                <a:extLst>
                  <a:ext uri="{0D108BD9-81ED-4DB2-BD59-A6C34878D82A}">
                    <a16:rowId xmlns:a16="http://schemas.microsoft.com/office/drawing/2014/main" val="10001"/>
                  </a:ext>
                </a:extLst>
              </a:tr>
              <a:tr h="685800">
                <a:tc>
                  <a:txBody>
                    <a:bodyPr/>
                    <a:lstStyle/>
                    <a:p>
                      <a:pPr algn="l">
                        <a:defRPr sz="1200">
                          <a:solidFill>
                            <a:srgbClr val="1E293B"/>
                          </a:solidFill>
                          <a:latin typeface="Arial"/>
                        </a:defRPr>
                      </a:pPr>
                      <a:r>
                        <a:t>Khatulistiwa Gadget Supply</a:t>
                      </a:r>
                    </a:p>
                  </a:txBody>
                  <a:tcPr>
                    <a:solidFill>
                      <a:srgbClr val="F0F4F8"/>
                    </a:solidFill>
                  </a:tcPr>
                </a:tc>
                <a:tc>
                  <a:txBody>
                    <a:bodyPr/>
                    <a:lstStyle/>
                    <a:p>
                      <a:pPr algn="ctr">
                        <a:defRPr sz="1200">
                          <a:solidFill>
                            <a:srgbClr val="1E293B"/>
                          </a:solidFill>
                          <a:latin typeface="Arial"/>
                        </a:defRPr>
                      </a:pPr>
                      <a:r>
                        <a:t>8.6</a:t>
                      </a:r>
                    </a:p>
                  </a:txBody>
                  <a:tcPr>
                    <a:solidFill>
                      <a:srgbClr val="F0F4F8"/>
                    </a:solidFill>
                  </a:tcPr>
                </a:tc>
                <a:tc>
                  <a:txBody>
                    <a:bodyPr/>
                    <a:lstStyle/>
                    <a:p>
                      <a:pPr algn="ctr">
                        <a:defRPr sz="1200">
                          <a:solidFill>
                            <a:srgbClr val="1E293B"/>
                          </a:solidFill>
                          <a:latin typeface="Arial"/>
                        </a:defRPr>
                      </a:pPr>
                      <a:r>
                        <a:t>9.3</a:t>
                      </a:r>
                    </a:p>
                  </a:txBody>
                  <a:tcPr>
                    <a:solidFill>
                      <a:srgbClr val="F0F4F8"/>
                    </a:solidFill>
                  </a:tcPr>
                </a:tc>
                <a:tc>
                  <a:txBody>
                    <a:bodyPr/>
                    <a:lstStyle/>
                    <a:p>
                      <a:pPr algn="ctr">
                        <a:defRPr sz="1200">
                          <a:solidFill>
                            <a:srgbClr val="1E293B"/>
                          </a:solidFill>
                          <a:latin typeface="Arial"/>
                        </a:defRPr>
                      </a:pPr>
                      <a:r>
                        <a:t>9.0</a:t>
                      </a:r>
                    </a:p>
                  </a:txBody>
                  <a:tcPr>
                    <a:solidFill>
                      <a:srgbClr val="F0F4F8"/>
                    </a:solidFill>
                  </a:tcPr>
                </a:tc>
                <a:tc>
                  <a:txBody>
                    <a:bodyPr/>
                    <a:lstStyle/>
                    <a:p>
                      <a:pPr algn="ctr">
                        <a:defRPr sz="1200">
                          <a:solidFill>
                            <a:srgbClr val="1E293B"/>
                          </a:solidFill>
                          <a:latin typeface="Arial"/>
                        </a:defRPr>
                      </a:pPr>
                      <a:r>
                        <a:t>8.9</a:t>
                      </a:r>
                    </a:p>
                  </a:txBody>
                  <a:tcPr>
                    <a:solidFill>
                      <a:srgbClr val="F0F4F8"/>
                    </a:solidFill>
                  </a:tcPr>
                </a:tc>
                <a:tc>
                  <a:txBody>
                    <a:bodyPr/>
                    <a:lstStyle/>
                    <a:p>
                      <a:pPr algn="ctr">
                        <a:defRPr sz="1200">
                          <a:solidFill>
                            <a:srgbClr val="1E293B"/>
                          </a:solidFill>
                          <a:latin typeface="Arial"/>
                        </a:defRPr>
                      </a:pPr>
                      <a:r>
                        <a:t>8.8</a:t>
                      </a:r>
                    </a:p>
                  </a:txBody>
                  <a:tcPr>
                    <a:solidFill>
                      <a:srgbClr val="F0F4F8"/>
                    </a:solidFill>
                  </a:tcPr>
                </a:tc>
                <a:tc>
                  <a:txBody>
                    <a:bodyPr/>
                    <a:lstStyle/>
                    <a:p>
                      <a:pPr algn="ctr">
                        <a:defRPr sz="1200">
                          <a:solidFill>
                            <a:srgbClr val="1E293B"/>
                          </a:solidFill>
                          <a:latin typeface="Arial"/>
                        </a:defRPr>
                      </a:pPr>
                      <a:r>
                        <a:t>Ya (Bonus)</a:t>
                      </a:r>
                    </a:p>
                  </a:txBody>
                  <a:tcPr>
                    <a:solidFill>
                      <a:srgbClr val="F0F4F8"/>
                    </a:solidFill>
                  </a:tcPr>
                </a:tc>
                <a:extLst>
                  <a:ext uri="{0D108BD9-81ED-4DB2-BD59-A6C34878D82A}">
                    <a16:rowId xmlns:a16="http://schemas.microsoft.com/office/drawing/2014/main" val="10002"/>
                  </a:ext>
                </a:extLst>
              </a:tr>
              <a:tr h="685800">
                <a:tc>
                  <a:txBody>
                    <a:bodyPr/>
                    <a:lstStyle/>
                    <a:p>
                      <a:pPr algn="l">
                        <a:defRPr sz="1200">
                          <a:solidFill>
                            <a:srgbClr val="1E293B"/>
                          </a:solidFill>
                          <a:latin typeface="Arial"/>
                        </a:defRPr>
                      </a:pPr>
                      <a:r>
                        <a:t>Borneo Tech Distributor</a:t>
                      </a:r>
                    </a:p>
                  </a:txBody>
                  <a:tcPr>
                    <a:solidFill>
                      <a:srgbClr val="FFFFFF"/>
                    </a:solidFill>
                  </a:tcPr>
                </a:tc>
                <a:tc>
                  <a:txBody>
                    <a:bodyPr/>
                    <a:lstStyle/>
                    <a:p>
                      <a:pPr algn="ctr">
                        <a:defRPr sz="1200">
                          <a:solidFill>
                            <a:srgbClr val="1E293B"/>
                          </a:solidFill>
                          <a:latin typeface="Arial"/>
                        </a:defRPr>
                      </a:pPr>
                      <a:r>
                        <a:t>8.2</a:t>
                      </a:r>
                    </a:p>
                  </a:txBody>
                  <a:tcPr>
                    <a:solidFill>
                      <a:srgbClr val="FFFFFF"/>
                    </a:solidFill>
                  </a:tcPr>
                </a:tc>
                <a:tc>
                  <a:txBody>
                    <a:bodyPr/>
                    <a:lstStyle/>
                    <a:p>
                      <a:pPr algn="ctr">
                        <a:defRPr sz="1200">
                          <a:solidFill>
                            <a:srgbClr val="1E293B"/>
                          </a:solidFill>
                          <a:latin typeface="Arial"/>
                        </a:defRPr>
                      </a:pPr>
                      <a:r>
                        <a:t>9.5</a:t>
                      </a:r>
                    </a:p>
                  </a:txBody>
                  <a:tcPr>
                    <a:solidFill>
                      <a:srgbClr val="FFFFFF"/>
                    </a:solidFill>
                  </a:tcPr>
                </a:tc>
                <a:tc>
                  <a:txBody>
                    <a:bodyPr/>
                    <a:lstStyle/>
                    <a:p>
                      <a:pPr algn="ctr">
                        <a:defRPr sz="1200">
                          <a:solidFill>
                            <a:srgbClr val="1E293B"/>
                          </a:solidFill>
                          <a:latin typeface="Arial"/>
                        </a:defRPr>
                      </a:pPr>
                      <a:r>
                        <a:t>8.4</a:t>
                      </a:r>
                    </a:p>
                  </a:txBody>
                  <a:tcPr>
                    <a:solidFill>
                      <a:srgbClr val="FFFFFF"/>
                    </a:solidFill>
                  </a:tcPr>
                </a:tc>
                <a:tc>
                  <a:txBody>
                    <a:bodyPr/>
                    <a:lstStyle/>
                    <a:p>
                      <a:pPr algn="ctr">
                        <a:defRPr sz="1200">
                          <a:solidFill>
                            <a:srgbClr val="1E293B"/>
                          </a:solidFill>
                          <a:latin typeface="Arial"/>
                        </a:defRPr>
                      </a:pPr>
                      <a:r>
                        <a:t>8.8</a:t>
                      </a:r>
                    </a:p>
                  </a:txBody>
                  <a:tcPr>
                    <a:solidFill>
                      <a:srgbClr val="FFFFFF"/>
                    </a:solidFill>
                  </a:tcPr>
                </a:tc>
                <a:tc>
                  <a:txBody>
                    <a:bodyPr/>
                    <a:lstStyle/>
                    <a:p>
                      <a:pPr algn="ctr">
                        <a:defRPr sz="1200">
                          <a:solidFill>
                            <a:srgbClr val="1E293B"/>
                          </a:solidFill>
                          <a:latin typeface="Arial"/>
                        </a:defRPr>
                      </a:pPr>
                      <a:r>
                        <a:t>8.6</a:t>
                      </a:r>
                    </a:p>
                  </a:txBody>
                  <a:tcPr>
                    <a:solidFill>
                      <a:srgbClr val="FFFFFF"/>
                    </a:solidFill>
                  </a:tcPr>
                </a:tc>
                <a:tc>
                  <a:txBody>
                    <a:bodyPr/>
                    <a:lstStyle/>
                    <a:p>
                      <a:pPr algn="ctr">
                        <a:defRPr sz="1200">
                          <a:solidFill>
                            <a:srgbClr val="1E293B"/>
                          </a:solidFill>
                          <a:latin typeface="Arial"/>
                        </a:defRPr>
                      </a:pPr>
                      <a:r>
                        <a:t>Tidak</a:t>
                      </a:r>
                    </a:p>
                  </a:txBody>
                  <a:tcPr>
                    <a:solidFill>
                      <a:srgbClr val="FFFFFF"/>
                    </a:solidFill>
                  </a:tcPr>
                </a:tc>
                <a:extLst>
                  <a:ext uri="{0D108BD9-81ED-4DB2-BD59-A6C34878D82A}">
                    <a16:rowId xmlns:a16="http://schemas.microsoft.com/office/drawing/2014/main" val="10003"/>
                  </a:ext>
                </a:extLst>
              </a:tr>
              <a:tr h="685800">
                <a:tc>
                  <a:txBody>
                    <a:bodyPr/>
                    <a:lstStyle/>
                    <a:p>
                      <a:pPr algn="l">
                        <a:defRPr sz="1200">
                          <a:solidFill>
                            <a:srgbClr val="1E293B"/>
                          </a:solidFill>
                          <a:latin typeface="Arial"/>
                        </a:defRPr>
                      </a:pPr>
                      <a:r>
                        <a:t>Mega Jaya Cellular</a:t>
                      </a:r>
                    </a:p>
                  </a:txBody>
                  <a:tcPr>
                    <a:solidFill>
                      <a:srgbClr val="F0F4F8"/>
                    </a:solidFill>
                  </a:tcPr>
                </a:tc>
                <a:tc>
                  <a:txBody>
                    <a:bodyPr/>
                    <a:lstStyle/>
                    <a:p>
                      <a:pPr algn="ctr">
                        <a:defRPr sz="1200">
                          <a:solidFill>
                            <a:srgbClr val="1E293B"/>
                          </a:solidFill>
                          <a:latin typeface="Arial"/>
                        </a:defRPr>
                      </a:pPr>
                      <a:r>
                        <a:t>8.9</a:t>
                      </a:r>
                    </a:p>
                  </a:txBody>
                  <a:tcPr>
                    <a:solidFill>
                      <a:srgbClr val="F0F4F8"/>
                    </a:solidFill>
                  </a:tcPr>
                </a:tc>
                <a:tc>
                  <a:txBody>
                    <a:bodyPr/>
                    <a:lstStyle/>
                    <a:p>
                      <a:pPr algn="ctr">
                        <a:defRPr sz="1200">
                          <a:solidFill>
                            <a:srgbClr val="1E293B"/>
                          </a:solidFill>
                          <a:latin typeface="Arial"/>
                        </a:defRPr>
                      </a:pPr>
                      <a:r>
                        <a:t>8.8</a:t>
                      </a:r>
                    </a:p>
                  </a:txBody>
                  <a:tcPr>
                    <a:solidFill>
                      <a:srgbClr val="F0F4F8"/>
                    </a:solidFill>
                  </a:tcPr>
                </a:tc>
                <a:tc>
                  <a:txBody>
                    <a:bodyPr/>
                    <a:lstStyle/>
                    <a:p>
                      <a:pPr algn="ctr">
                        <a:defRPr sz="1200">
                          <a:solidFill>
                            <a:srgbClr val="1E293B"/>
                          </a:solidFill>
                          <a:latin typeface="Arial"/>
                        </a:defRPr>
                      </a:pPr>
                      <a:r>
                        <a:t>9.2</a:t>
                      </a:r>
                    </a:p>
                  </a:txBody>
                  <a:tcPr>
                    <a:solidFill>
                      <a:srgbClr val="F0F4F8"/>
                    </a:solidFill>
                  </a:tcPr>
                </a:tc>
                <a:tc>
                  <a:txBody>
                    <a:bodyPr/>
                    <a:lstStyle/>
                    <a:p>
                      <a:pPr algn="ctr">
                        <a:defRPr sz="1200">
                          <a:solidFill>
                            <a:srgbClr val="1E293B"/>
                          </a:solidFill>
                          <a:latin typeface="Arial"/>
                        </a:defRPr>
                      </a:pPr>
                      <a:r>
                        <a:t>8.7</a:t>
                      </a:r>
                    </a:p>
                  </a:txBody>
                  <a:tcPr>
                    <a:solidFill>
                      <a:srgbClr val="F0F4F8"/>
                    </a:solidFill>
                  </a:tcPr>
                </a:tc>
                <a:tc>
                  <a:txBody>
                    <a:bodyPr/>
                    <a:lstStyle/>
                    <a:p>
                      <a:pPr algn="ctr">
                        <a:defRPr sz="1200">
                          <a:solidFill>
                            <a:srgbClr val="1E293B"/>
                          </a:solidFill>
                          <a:latin typeface="Arial"/>
                        </a:defRPr>
                      </a:pPr>
                      <a:r>
                        <a:t>8.9</a:t>
                      </a:r>
                    </a:p>
                  </a:txBody>
                  <a:tcPr>
                    <a:solidFill>
                      <a:srgbClr val="F0F4F8"/>
                    </a:solidFill>
                  </a:tcPr>
                </a:tc>
                <a:tc>
                  <a:txBody>
                    <a:bodyPr/>
                    <a:lstStyle/>
                    <a:p>
                      <a:pPr algn="ctr">
                        <a:defRPr sz="1200">
                          <a:solidFill>
                            <a:srgbClr val="1E293B"/>
                          </a:solidFill>
                          <a:latin typeface="Arial"/>
                        </a:defRPr>
                      </a:pPr>
                      <a:r>
                        <a:t>Tidak</a:t>
                      </a:r>
                    </a:p>
                  </a:txBody>
                  <a:tcPr>
                    <a:solidFill>
                      <a:srgbClr val="F0F4F8"/>
                    </a:solidFill>
                  </a:tcPr>
                </a:tc>
                <a:extLst>
                  <a:ext uri="{0D108BD9-81ED-4DB2-BD59-A6C34878D82A}">
                    <a16:rowId xmlns:a16="http://schemas.microsoft.com/office/drawing/2014/main" val="10004"/>
                  </a:ext>
                </a:extLst>
              </a:tr>
              <a:tr h="685800">
                <a:tc>
                  <a:txBody>
                    <a:bodyPr/>
                    <a:lstStyle/>
                    <a:p>
                      <a:pPr algn="l">
                        <a:defRPr sz="1200">
                          <a:solidFill>
                            <a:srgbClr val="1E293B"/>
                          </a:solidFill>
                          <a:latin typeface="Arial"/>
                        </a:defRPr>
                      </a:pPr>
                      <a:r>
                        <a:t>JBL Audio Partner</a:t>
                      </a:r>
                    </a:p>
                  </a:txBody>
                  <a:tcPr>
                    <a:solidFill>
                      <a:srgbClr val="FFFFFF"/>
                    </a:solidFill>
                  </a:tcPr>
                </a:tc>
                <a:tc>
                  <a:txBody>
                    <a:bodyPr/>
                    <a:lstStyle/>
                    <a:p>
                      <a:pPr algn="ctr">
                        <a:defRPr sz="1200">
                          <a:solidFill>
                            <a:srgbClr val="1E293B"/>
                          </a:solidFill>
                          <a:latin typeface="Arial"/>
                        </a:defRPr>
                      </a:pPr>
                      <a:r>
                        <a:t>8.0</a:t>
                      </a:r>
                    </a:p>
                  </a:txBody>
                  <a:tcPr>
                    <a:solidFill>
                      <a:srgbClr val="FFFFFF"/>
                    </a:solidFill>
                  </a:tcPr>
                </a:tc>
                <a:tc>
                  <a:txBody>
                    <a:bodyPr/>
                    <a:lstStyle/>
                    <a:p>
                      <a:pPr algn="ctr">
                        <a:defRPr sz="1200">
                          <a:solidFill>
                            <a:srgbClr val="1E293B"/>
                          </a:solidFill>
                          <a:latin typeface="Arial"/>
                        </a:defRPr>
                      </a:pPr>
                      <a:r>
                        <a:t>9.4</a:t>
                      </a:r>
                    </a:p>
                  </a:txBody>
                  <a:tcPr>
                    <a:solidFill>
                      <a:srgbClr val="FFFFFF"/>
                    </a:solidFill>
                  </a:tcPr>
                </a:tc>
                <a:tc>
                  <a:txBody>
                    <a:bodyPr/>
                    <a:lstStyle/>
                    <a:p>
                      <a:pPr algn="ctr">
                        <a:defRPr sz="1200">
                          <a:solidFill>
                            <a:srgbClr val="1E293B"/>
                          </a:solidFill>
                          <a:latin typeface="Arial"/>
                        </a:defRPr>
                      </a:pPr>
                      <a:r>
                        <a:t>8.3</a:t>
                      </a:r>
                    </a:p>
                  </a:txBody>
                  <a:tcPr>
                    <a:solidFill>
                      <a:srgbClr val="FFFFFF"/>
                    </a:solidFill>
                  </a:tcPr>
                </a:tc>
                <a:tc>
                  <a:txBody>
                    <a:bodyPr/>
                    <a:lstStyle/>
                    <a:p>
                      <a:pPr algn="ctr">
                        <a:defRPr sz="1200">
                          <a:solidFill>
                            <a:srgbClr val="1E293B"/>
                          </a:solidFill>
                          <a:latin typeface="Arial"/>
                        </a:defRPr>
                      </a:pPr>
                      <a:r>
                        <a:t>8.7</a:t>
                      </a:r>
                    </a:p>
                  </a:txBody>
                  <a:tcPr>
                    <a:solidFill>
                      <a:srgbClr val="FFFFFF"/>
                    </a:solidFill>
                  </a:tcPr>
                </a:tc>
                <a:tc>
                  <a:txBody>
                    <a:bodyPr/>
                    <a:lstStyle/>
                    <a:p>
                      <a:pPr algn="ctr">
                        <a:defRPr sz="1200">
                          <a:solidFill>
                            <a:srgbClr val="1E293B"/>
                          </a:solidFill>
                          <a:latin typeface="Arial"/>
                        </a:defRPr>
                      </a:pPr>
                      <a:r>
                        <a:t>8.2</a:t>
                      </a:r>
                    </a:p>
                  </a:txBody>
                  <a:tcPr>
                    <a:solidFill>
                      <a:srgbClr val="FFFFFF"/>
                    </a:solidFill>
                  </a:tcPr>
                </a:tc>
                <a:tc>
                  <a:txBody>
                    <a:bodyPr/>
                    <a:lstStyle/>
                    <a:p>
                      <a:pPr algn="ctr">
                        <a:defRPr sz="1200">
                          <a:solidFill>
                            <a:srgbClr val="1E293B"/>
                          </a:solidFill>
                          <a:latin typeface="Arial"/>
                        </a:defRPr>
                      </a:pPr>
                      <a:r>
                        <a:t>Tidak</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731520"/>
          </a:xfrm>
          <a:prstGeom prst="rect">
            <a:avLst/>
          </a:prstGeom>
          <a:noFill/>
        </p:spPr>
        <p:txBody>
          <a:bodyPr wrap="square" lIns="0" tIns="0" rIns="0" bIns="0">
            <a:spAutoFit/>
          </a:bodyPr>
          <a:lstStyle/>
          <a:p>
            <a:pPr>
              <a:defRPr sz="2800" b="1">
                <a:solidFill>
                  <a:srgbClr val="0F172A"/>
                </a:solidFill>
                <a:latin typeface="Arial"/>
              </a:defRPr>
            </a:pPr>
            <a:r>
              <a:t>Hasil Perankingan &amp; Rekomendasi</a:t>
            </a:r>
          </a:p>
        </p:txBody>
      </p:sp>
      <p:sp>
        <p:nvSpPr>
          <p:cNvPr id="4" name="Rectangle 3"/>
          <p:cNvSpPr/>
          <p:nvPr/>
        </p:nvSpPr>
        <p:spPr>
          <a:xfrm>
            <a:off x="731520" y="109728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731520" y="1645920"/>
          <a:ext cx="10728655" cy="411480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2133295">
                  <a:extLst>
                    <a:ext uri="{9D8B030D-6E8A-4147-A177-3AD203B41FA5}">
                      <a16:colId xmlns:a16="http://schemas.microsoft.com/office/drawing/2014/main" val="20004"/>
                    </a:ext>
                  </a:extLst>
                </a:gridCol>
              </a:tblGrid>
              <a:tr h="685800">
                <a:tc>
                  <a:txBody>
                    <a:bodyPr/>
                    <a:lstStyle/>
                    <a:p>
                      <a:pPr algn="ctr">
                        <a:defRPr sz="1300" b="1">
                          <a:solidFill>
                            <a:srgbClr val="FFFFFF"/>
                          </a:solidFill>
                          <a:latin typeface="Arial"/>
                        </a:defRPr>
                      </a:pPr>
                      <a:r>
                        <a:t>Ranking</a:t>
                      </a:r>
                    </a:p>
                  </a:txBody>
                  <a:tcPr>
                    <a:solidFill>
                      <a:srgbClr val="0B192C"/>
                    </a:solidFill>
                  </a:tcPr>
                </a:tc>
                <a:tc>
                  <a:txBody>
                    <a:bodyPr/>
                    <a:lstStyle/>
                    <a:p>
                      <a:pPr algn="ctr">
                        <a:defRPr sz="1300" b="1">
                          <a:solidFill>
                            <a:srgbClr val="FFFFFF"/>
                          </a:solidFill>
                          <a:latin typeface="Arial"/>
                        </a:defRPr>
                      </a:pPr>
                      <a:r>
                        <a:t>Nama Supplier</a:t>
                      </a:r>
                    </a:p>
                  </a:txBody>
                  <a:tcPr>
                    <a:solidFill>
                      <a:srgbClr val="0B192C"/>
                    </a:solidFill>
                  </a:tcPr>
                </a:tc>
                <a:tc>
                  <a:txBody>
                    <a:bodyPr/>
                    <a:lstStyle/>
                    <a:p>
                      <a:pPr algn="ctr">
                        <a:defRPr sz="1300" b="1">
                          <a:solidFill>
                            <a:srgbClr val="FFFFFF"/>
                          </a:solidFill>
                          <a:latin typeface="Arial"/>
                        </a:defRPr>
                      </a:pPr>
                      <a:r>
                        <a:t>Skor Akhir (Vi)</a:t>
                      </a:r>
                    </a:p>
                  </a:txBody>
                  <a:tcPr>
                    <a:solidFill>
                      <a:srgbClr val="0B192C"/>
                    </a:solidFill>
                  </a:tcPr>
                </a:tc>
                <a:tc>
                  <a:txBody>
                    <a:bodyPr/>
                    <a:lstStyle/>
                    <a:p>
                      <a:pPr algn="ctr">
                        <a:defRPr sz="1300" b="1">
                          <a:solidFill>
                            <a:srgbClr val="FFFFFF"/>
                          </a:solidFill>
                          <a:latin typeface="Arial"/>
                        </a:defRPr>
                      </a:pPr>
                      <a:r>
                        <a:t>Threshold</a:t>
                      </a:r>
                    </a:p>
                  </a:txBody>
                  <a:tcPr>
                    <a:solidFill>
                      <a:srgbClr val="0B192C"/>
                    </a:solidFill>
                  </a:tcPr>
                </a:tc>
                <a:tc>
                  <a:txBody>
                    <a:bodyPr/>
                    <a:lstStyle/>
                    <a:p>
                      <a:pPr algn="ctr">
                        <a:defRPr sz="1300" b="1">
                          <a:solidFill>
                            <a:srgbClr val="FFFFFF"/>
                          </a:solidFill>
                          <a:latin typeface="Arial"/>
                        </a:defRPr>
                      </a:pPr>
                      <a:r>
                        <a:t>Rekomendasi</a:t>
                      </a:r>
                    </a:p>
                  </a:txBody>
                  <a:tcPr>
                    <a:solidFill>
                      <a:srgbClr val="0B192C"/>
                    </a:solidFill>
                  </a:tcPr>
                </a:tc>
                <a:extLst>
                  <a:ext uri="{0D108BD9-81ED-4DB2-BD59-A6C34878D82A}">
                    <a16:rowId xmlns:a16="http://schemas.microsoft.com/office/drawing/2014/main" val="10000"/>
                  </a:ext>
                </a:extLst>
              </a:tr>
              <a:tr h="685800">
                <a:tc>
                  <a:txBody>
                    <a:bodyPr/>
                    <a:lstStyle/>
                    <a:p>
                      <a:pPr algn="ctr">
                        <a:defRPr sz="1200" b="0">
                          <a:solidFill>
                            <a:srgbClr val="1E293B"/>
                          </a:solidFill>
                          <a:latin typeface="Arial"/>
                        </a:defRPr>
                      </a:pPr>
                      <a:r>
                        <a:t>1</a:t>
                      </a:r>
                    </a:p>
                  </a:txBody>
                  <a:tcPr>
                    <a:solidFill>
                      <a:srgbClr val="E6F5E9"/>
                    </a:solidFill>
                  </a:tcPr>
                </a:tc>
                <a:tc>
                  <a:txBody>
                    <a:bodyPr/>
                    <a:lstStyle/>
                    <a:p>
                      <a:pPr algn="l">
                        <a:defRPr sz="1200" b="0">
                          <a:solidFill>
                            <a:srgbClr val="1E293B"/>
                          </a:solidFill>
                          <a:latin typeface="Arial"/>
                        </a:defRPr>
                      </a:pPr>
                      <a:r>
                        <a:t>Khatulistiwa Gadget Supply</a:t>
                      </a:r>
                    </a:p>
                  </a:txBody>
                  <a:tcPr>
                    <a:solidFill>
                      <a:srgbClr val="E6F5E9"/>
                    </a:solidFill>
                  </a:tcPr>
                </a:tc>
                <a:tc>
                  <a:txBody>
                    <a:bodyPr/>
                    <a:lstStyle/>
                    <a:p>
                      <a:pPr algn="ctr">
                        <a:defRPr sz="1200" b="1">
                          <a:solidFill>
                            <a:srgbClr val="1E293B"/>
                          </a:solidFill>
                          <a:latin typeface="Arial"/>
                        </a:defRPr>
                      </a:pPr>
                      <a:r>
                        <a:t>1.0142</a:t>
                      </a:r>
                    </a:p>
                  </a:txBody>
                  <a:tcPr>
                    <a:solidFill>
                      <a:srgbClr val="E6F5E9"/>
                    </a:solidFill>
                  </a:tcPr>
                </a:tc>
                <a:tc>
                  <a:txBody>
                    <a:bodyPr/>
                    <a:lstStyle/>
                    <a:p>
                      <a:pPr algn="ctr">
                        <a:defRPr sz="1200" b="0">
                          <a:solidFill>
                            <a:srgbClr val="1E293B"/>
                          </a:solidFill>
                          <a:latin typeface="Arial"/>
                        </a:defRPr>
                      </a:pPr>
                      <a:r>
                        <a:t>≥ 0.75</a:t>
                      </a:r>
                    </a:p>
                  </a:txBody>
                  <a:tcPr>
                    <a:solidFill>
                      <a:srgbClr val="E6F5E9"/>
                    </a:solidFill>
                  </a:tcPr>
                </a:tc>
                <a:tc>
                  <a:txBody>
                    <a:bodyPr/>
                    <a:lstStyle/>
                    <a:p>
                      <a:pPr algn="ctr">
                        <a:defRPr sz="1200" b="0">
                          <a:solidFill>
                            <a:srgbClr val="1E293B"/>
                          </a:solidFill>
                          <a:latin typeface="Arial"/>
                        </a:defRPr>
                      </a:pPr>
                      <a:r>
                        <a:t>Direkomendasikan</a:t>
                      </a:r>
                    </a:p>
                  </a:txBody>
                  <a:tcPr>
                    <a:solidFill>
                      <a:srgbClr val="E6F5E9"/>
                    </a:solidFill>
                  </a:tcPr>
                </a:tc>
                <a:extLst>
                  <a:ext uri="{0D108BD9-81ED-4DB2-BD59-A6C34878D82A}">
                    <a16:rowId xmlns:a16="http://schemas.microsoft.com/office/drawing/2014/main" val="10001"/>
                  </a:ext>
                </a:extLst>
              </a:tr>
              <a:tr h="685800">
                <a:tc>
                  <a:txBody>
                    <a:bodyPr/>
                    <a:lstStyle/>
                    <a:p>
                      <a:pPr algn="ctr">
                        <a:defRPr sz="1200" b="0">
                          <a:solidFill>
                            <a:srgbClr val="1E293B"/>
                          </a:solidFill>
                          <a:latin typeface="Arial"/>
                        </a:defRPr>
                      </a:pPr>
                      <a:r>
                        <a:t>2</a:t>
                      </a:r>
                    </a:p>
                  </a:txBody>
                  <a:tcPr>
                    <a:solidFill>
                      <a:srgbClr val="F0F4F8"/>
                    </a:solidFill>
                  </a:tcPr>
                </a:tc>
                <a:tc>
                  <a:txBody>
                    <a:bodyPr/>
                    <a:lstStyle/>
                    <a:p>
                      <a:pPr algn="l">
                        <a:defRPr sz="1200" b="0">
                          <a:solidFill>
                            <a:srgbClr val="1E293B"/>
                          </a:solidFill>
                          <a:latin typeface="Arial"/>
                        </a:defRPr>
                      </a:pPr>
                      <a:r>
                        <a:t>Borneo Tech Distributor</a:t>
                      </a:r>
                    </a:p>
                  </a:txBody>
                  <a:tcPr>
                    <a:solidFill>
                      <a:srgbClr val="F0F4F8"/>
                    </a:solidFill>
                  </a:tcPr>
                </a:tc>
                <a:tc>
                  <a:txBody>
                    <a:bodyPr/>
                    <a:lstStyle/>
                    <a:p>
                      <a:pPr algn="ctr">
                        <a:defRPr sz="1200" b="0">
                          <a:solidFill>
                            <a:srgbClr val="1E293B"/>
                          </a:solidFill>
                          <a:latin typeface="Arial"/>
                        </a:defRPr>
                      </a:pPr>
                      <a:r>
                        <a:t>0.9677</a:t>
                      </a:r>
                    </a:p>
                  </a:txBody>
                  <a:tcPr>
                    <a:solidFill>
                      <a:srgbClr val="F0F4F8"/>
                    </a:solidFill>
                  </a:tcPr>
                </a:tc>
                <a:tc>
                  <a:txBody>
                    <a:bodyPr/>
                    <a:lstStyle/>
                    <a:p>
                      <a:pPr algn="ctr">
                        <a:defRPr sz="1200" b="0">
                          <a:solidFill>
                            <a:srgbClr val="1E293B"/>
                          </a:solidFill>
                          <a:latin typeface="Arial"/>
                        </a:defRPr>
                      </a:pPr>
                      <a:r>
                        <a:t>≥ 0.75</a:t>
                      </a:r>
                    </a:p>
                  </a:txBody>
                  <a:tcPr>
                    <a:solidFill>
                      <a:srgbClr val="F0F4F8"/>
                    </a:solidFill>
                  </a:tcPr>
                </a:tc>
                <a:tc>
                  <a:txBody>
                    <a:bodyPr/>
                    <a:lstStyle/>
                    <a:p>
                      <a:pPr algn="ctr">
                        <a:defRPr sz="1200" b="0">
                          <a:solidFill>
                            <a:srgbClr val="1E293B"/>
                          </a:solidFill>
                          <a:latin typeface="Arial"/>
                        </a:defRPr>
                      </a:pPr>
                      <a:r>
                        <a:t>Direkomendasikan</a:t>
                      </a:r>
                    </a:p>
                  </a:txBody>
                  <a:tcPr>
                    <a:solidFill>
                      <a:srgbClr val="F0F4F8"/>
                    </a:solidFill>
                  </a:tcPr>
                </a:tc>
                <a:extLst>
                  <a:ext uri="{0D108BD9-81ED-4DB2-BD59-A6C34878D82A}">
                    <a16:rowId xmlns:a16="http://schemas.microsoft.com/office/drawing/2014/main" val="10002"/>
                  </a:ext>
                </a:extLst>
              </a:tr>
              <a:tr h="685800">
                <a:tc>
                  <a:txBody>
                    <a:bodyPr/>
                    <a:lstStyle/>
                    <a:p>
                      <a:pPr algn="ctr">
                        <a:defRPr sz="1200" b="0">
                          <a:solidFill>
                            <a:srgbClr val="1E293B"/>
                          </a:solidFill>
                          <a:latin typeface="Arial"/>
                        </a:defRPr>
                      </a:pPr>
                      <a:r>
                        <a:t>3</a:t>
                      </a:r>
                    </a:p>
                  </a:txBody>
                  <a:tcPr>
                    <a:solidFill>
                      <a:srgbClr val="FFFFFF"/>
                    </a:solidFill>
                  </a:tcPr>
                </a:tc>
                <a:tc>
                  <a:txBody>
                    <a:bodyPr/>
                    <a:lstStyle/>
                    <a:p>
                      <a:pPr algn="l">
                        <a:defRPr sz="1200" b="0">
                          <a:solidFill>
                            <a:srgbClr val="1E293B"/>
                          </a:solidFill>
                          <a:latin typeface="Arial"/>
                        </a:defRPr>
                      </a:pPr>
                      <a:r>
                        <a:t>JBL Audio Partner</a:t>
                      </a:r>
                    </a:p>
                  </a:txBody>
                  <a:tcPr>
                    <a:solidFill>
                      <a:srgbClr val="FFFFFF"/>
                    </a:solidFill>
                  </a:tcPr>
                </a:tc>
                <a:tc>
                  <a:txBody>
                    <a:bodyPr/>
                    <a:lstStyle/>
                    <a:p>
                      <a:pPr algn="ctr">
                        <a:defRPr sz="1200" b="0">
                          <a:solidFill>
                            <a:srgbClr val="1E293B"/>
                          </a:solidFill>
                          <a:latin typeface="Arial"/>
                        </a:defRPr>
                      </a:pPr>
                      <a:r>
                        <a:t>0.9642</a:t>
                      </a:r>
                    </a:p>
                  </a:txBody>
                  <a:tcPr>
                    <a:solidFill>
                      <a:srgbClr val="FFFFFF"/>
                    </a:solidFill>
                  </a:tcPr>
                </a:tc>
                <a:tc>
                  <a:txBody>
                    <a:bodyPr/>
                    <a:lstStyle/>
                    <a:p>
                      <a:pPr algn="ctr">
                        <a:defRPr sz="1200" b="0">
                          <a:solidFill>
                            <a:srgbClr val="1E293B"/>
                          </a:solidFill>
                          <a:latin typeface="Arial"/>
                        </a:defRPr>
                      </a:pPr>
                      <a:r>
                        <a:t>≥ 0.75</a:t>
                      </a:r>
                    </a:p>
                  </a:txBody>
                  <a:tcPr>
                    <a:solidFill>
                      <a:srgbClr val="FFFFFF"/>
                    </a:solidFill>
                  </a:tcPr>
                </a:tc>
                <a:tc>
                  <a:txBody>
                    <a:bodyPr/>
                    <a:lstStyle/>
                    <a:p>
                      <a:pPr algn="ctr">
                        <a:defRPr sz="1200" b="0">
                          <a:solidFill>
                            <a:srgbClr val="1E293B"/>
                          </a:solidFill>
                          <a:latin typeface="Arial"/>
                        </a:defRPr>
                      </a:pPr>
                      <a:r>
                        <a:t>Direkomendasikan</a:t>
                      </a:r>
                    </a:p>
                  </a:txBody>
                  <a:tcPr>
                    <a:solidFill>
                      <a:srgbClr val="FFFFFF"/>
                    </a:solidFill>
                  </a:tcPr>
                </a:tc>
                <a:extLst>
                  <a:ext uri="{0D108BD9-81ED-4DB2-BD59-A6C34878D82A}">
                    <a16:rowId xmlns:a16="http://schemas.microsoft.com/office/drawing/2014/main" val="10003"/>
                  </a:ext>
                </a:extLst>
              </a:tr>
              <a:tr h="685800">
                <a:tc>
                  <a:txBody>
                    <a:bodyPr/>
                    <a:lstStyle/>
                    <a:p>
                      <a:pPr algn="ctr">
                        <a:defRPr sz="1200" b="0">
                          <a:solidFill>
                            <a:srgbClr val="1E293B"/>
                          </a:solidFill>
                          <a:latin typeface="Arial"/>
                        </a:defRPr>
                      </a:pPr>
                      <a:r>
                        <a:t>4</a:t>
                      </a:r>
                    </a:p>
                  </a:txBody>
                  <a:tcPr>
                    <a:solidFill>
                      <a:srgbClr val="F0F4F8"/>
                    </a:solidFill>
                  </a:tcPr>
                </a:tc>
                <a:tc>
                  <a:txBody>
                    <a:bodyPr/>
                    <a:lstStyle/>
                    <a:p>
                      <a:pPr algn="l">
                        <a:defRPr sz="1200" b="0">
                          <a:solidFill>
                            <a:srgbClr val="1E293B"/>
                          </a:solidFill>
                          <a:latin typeface="Arial"/>
                        </a:defRPr>
                      </a:pPr>
                      <a:r>
                        <a:t>Mega Jaya Cellular</a:t>
                      </a:r>
                    </a:p>
                  </a:txBody>
                  <a:tcPr>
                    <a:solidFill>
                      <a:srgbClr val="F0F4F8"/>
                    </a:solidFill>
                  </a:tcPr>
                </a:tc>
                <a:tc>
                  <a:txBody>
                    <a:bodyPr/>
                    <a:lstStyle/>
                    <a:p>
                      <a:pPr algn="ctr">
                        <a:defRPr sz="1200" b="0">
                          <a:solidFill>
                            <a:srgbClr val="1E293B"/>
                          </a:solidFill>
                          <a:latin typeface="Arial"/>
                        </a:defRPr>
                      </a:pPr>
                      <a:r>
                        <a:t>0.9421</a:t>
                      </a:r>
                    </a:p>
                  </a:txBody>
                  <a:tcPr>
                    <a:solidFill>
                      <a:srgbClr val="F0F4F8"/>
                    </a:solidFill>
                  </a:tcPr>
                </a:tc>
                <a:tc>
                  <a:txBody>
                    <a:bodyPr/>
                    <a:lstStyle/>
                    <a:p>
                      <a:pPr algn="ctr">
                        <a:defRPr sz="1200" b="0">
                          <a:solidFill>
                            <a:srgbClr val="1E293B"/>
                          </a:solidFill>
                          <a:latin typeface="Arial"/>
                        </a:defRPr>
                      </a:pPr>
                      <a:r>
                        <a:t>≥ 0.75</a:t>
                      </a:r>
                    </a:p>
                  </a:txBody>
                  <a:tcPr>
                    <a:solidFill>
                      <a:srgbClr val="F0F4F8"/>
                    </a:solidFill>
                  </a:tcPr>
                </a:tc>
                <a:tc>
                  <a:txBody>
                    <a:bodyPr/>
                    <a:lstStyle/>
                    <a:p>
                      <a:pPr algn="ctr">
                        <a:defRPr sz="1200" b="0">
                          <a:solidFill>
                            <a:srgbClr val="1E293B"/>
                          </a:solidFill>
                          <a:latin typeface="Arial"/>
                        </a:defRPr>
                      </a:pPr>
                      <a:r>
                        <a:t>Direkomendasikan</a:t>
                      </a:r>
                    </a:p>
                  </a:txBody>
                  <a:tcPr>
                    <a:solidFill>
                      <a:srgbClr val="F0F4F8"/>
                    </a:solidFill>
                  </a:tcPr>
                </a:tc>
                <a:extLst>
                  <a:ext uri="{0D108BD9-81ED-4DB2-BD59-A6C34878D82A}">
                    <a16:rowId xmlns:a16="http://schemas.microsoft.com/office/drawing/2014/main" val="10004"/>
                  </a:ext>
                </a:extLst>
              </a:tr>
              <a:tr h="685800">
                <a:tc>
                  <a:txBody>
                    <a:bodyPr/>
                    <a:lstStyle/>
                    <a:p>
                      <a:pPr algn="ctr">
                        <a:defRPr sz="1200" b="0">
                          <a:solidFill>
                            <a:srgbClr val="1E293B"/>
                          </a:solidFill>
                          <a:latin typeface="Arial"/>
                        </a:defRPr>
                      </a:pPr>
                      <a:r>
                        <a:t>5</a:t>
                      </a:r>
                    </a:p>
                  </a:txBody>
                  <a:tcPr>
                    <a:solidFill>
                      <a:srgbClr val="FFFFFF"/>
                    </a:solidFill>
                  </a:tcPr>
                </a:tc>
                <a:tc>
                  <a:txBody>
                    <a:bodyPr/>
                    <a:lstStyle/>
                    <a:p>
                      <a:pPr algn="l">
                        <a:defRPr sz="1200" b="0">
                          <a:solidFill>
                            <a:srgbClr val="1E293B"/>
                          </a:solidFill>
                          <a:latin typeface="Arial"/>
                        </a:defRPr>
                      </a:pPr>
                      <a:r>
                        <a:t>Pontianak Mobile Grosir</a:t>
                      </a:r>
                    </a:p>
                  </a:txBody>
                  <a:tcPr>
                    <a:solidFill>
                      <a:srgbClr val="FFFFFF"/>
                    </a:solidFill>
                  </a:tcPr>
                </a:tc>
                <a:tc>
                  <a:txBody>
                    <a:bodyPr/>
                    <a:lstStyle/>
                    <a:p>
                      <a:pPr algn="ctr">
                        <a:defRPr sz="1200" b="0">
                          <a:solidFill>
                            <a:srgbClr val="1E293B"/>
                          </a:solidFill>
                          <a:latin typeface="Arial"/>
                        </a:defRPr>
                      </a:pPr>
                      <a:r>
                        <a:t>0.9358</a:t>
                      </a:r>
                    </a:p>
                  </a:txBody>
                  <a:tcPr>
                    <a:solidFill>
                      <a:srgbClr val="FFFFFF"/>
                    </a:solidFill>
                  </a:tcPr>
                </a:tc>
                <a:tc>
                  <a:txBody>
                    <a:bodyPr/>
                    <a:lstStyle/>
                    <a:p>
                      <a:pPr algn="ctr">
                        <a:defRPr sz="1200" b="0">
                          <a:solidFill>
                            <a:srgbClr val="1E293B"/>
                          </a:solidFill>
                          <a:latin typeface="Arial"/>
                        </a:defRPr>
                      </a:pPr>
                      <a:r>
                        <a:t>≥ 0.75</a:t>
                      </a:r>
                    </a:p>
                  </a:txBody>
                  <a:tcPr>
                    <a:solidFill>
                      <a:srgbClr val="FFFFFF"/>
                    </a:solidFill>
                  </a:tcPr>
                </a:tc>
                <a:tc>
                  <a:txBody>
                    <a:bodyPr/>
                    <a:lstStyle/>
                    <a:p>
                      <a:pPr algn="ctr">
                        <a:defRPr sz="1200" b="0">
                          <a:solidFill>
                            <a:srgbClr val="1E293B"/>
                          </a:solidFill>
                          <a:latin typeface="Arial"/>
                        </a:defRPr>
                      </a:pPr>
                      <a:r>
                        <a:t>Direkomendasikan</a:t>
                      </a:r>
                    </a:p>
                  </a:txBody>
                  <a:tcP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731520" y="5852160"/>
            <a:ext cx="10728655" cy="731520"/>
          </a:xfrm>
          <a:prstGeom prst="rect">
            <a:avLst/>
          </a:prstGeom>
          <a:noFill/>
        </p:spPr>
        <p:txBody>
          <a:bodyPr wrap="square">
            <a:spAutoFit/>
          </a:bodyPr>
          <a:lstStyle/>
          <a:p>
            <a:pPr>
              <a:defRPr sz="1100" i="1">
                <a:solidFill>
                  <a:srgbClr val="64748B"/>
                </a:solidFill>
                <a:latin typeface="Arial"/>
              </a:defRPr>
            </a:pPr>
            <a:r>
              <a:t>Catatan: Khatulistiwa Gadget Supply memperoleh skor &gt; 1.0 (yaitu 1.0142) karena mendapatkan tambahan bonus ongkos kirim sebesar +0.05. Seluruh supplier sampel lolos threshold kelulusan 0.75.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731520"/>
          </a:xfrm>
          <a:prstGeom prst="rect">
            <a:avLst/>
          </a:prstGeom>
          <a:noFill/>
        </p:spPr>
        <p:txBody>
          <a:bodyPr wrap="square" lIns="0" tIns="0" rIns="0" bIns="0">
            <a:spAutoFit/>
          </a:bodyPr>
          <a:lstStyle/>
          <a:p>
            <a:pPr>
              <a:defRPr sz="2800" b="1">
                <a:solidFill>
                  <a:srgbClr val="0F172A"/>
                </a:solidFill>
                <a:latin typeface="Arial"/>
              </a:defRPr>
            </a:pPr>
            <a:r>
              <a:t>Implementasi &amp; Arsitektur Sistem Web</a:t>
            </a:r>
          </a:p>
        </p:txBody>
      </p:sp>
      <p:sp>
        <p:nvSpPr>
          <p:cNvPr id="4" name="Rectangle 3"/>
          <p:cNvSpPr/>
          <p:nvPr/>
        </p:nvSpPr>
        <p:spPr>
          <a:xfrm>
            <a:off x="731520" y="109728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63040"/>
            <a:ext cx="5120640" cy="4572000"/>
          </a:xfrm>
          <a:prstGeom prst="roundRect">
            <a:avLst>
              <a:gd name="adj" fmla="val 5000"/>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645920"/>
            <a:ext cx="4572000" cy="4206240"/>
          </a:xfrm>
          <a:prstGeom prst="rect">
            <a:avLst/>
          </a:prstGeom>
          <a:noFill/>
        </p:spPr>
        <p:txBody>
          <a:bodyPr wrap="square">
            <a:spAutoFit/>
          </a:bodyPr>
          <a:lstStyle/>
          <a:p>
            <a:pPr>
              <a:spcAft>
                <a:spcPts val="1200"/>
              </a:spcAft>
              <a:defRPr sz="1800" b="1">
                <a:solidFill>
                  <a:srgbClr val="0F172A"/>
                </a:solidFill>
                <a:latin typeface="Arial"/>
              </a:defRPr>
            </a:pPr>
            <a:r>
              <a:t>Teknologi yang Digunakan</a:t>
            </a:r>
          </a:p>
          <a:p>
            <a:pPr>
              <a:spcAft>
                <a:spcPts val="800"/>
              </a:spcAft>
            </a:pPr>
            <a:r>
              <a:rPr sz="1300" b="1">
                <a:solidFill>
                  <a:srgbClr val="1E293B"/>
                </a:solidFill>
                <a:latin typeface="Arial"/>
              </a:rPr>
              <a:t>Frontend: Next.js 14
</a:t>
            </a:r>
            <a:r>
              <a:rPr sz="1300" b="0">
                <a:solidFill>
                  <a:srgbClr val="1E293B"/>
                </a:solidFill>
                <a:latin typeface="Arial"/>
              </a:rPr>
              <a:t>React-based framework untuk rendering client-side cepat dan routing dinamis.</a:t>
            </a:r>
          </a:p>
          <a:p>
            <a:pPr>
              <a:spcAft>
                <a:spcPts val="800"/>
              </a:spcAft>
            </a:pPr>
            <a:r>
              <a:rPr sz="1300" b="1">
                <a:solidFill>
                  <a:srgbClr val="1E293B"/>
                </a:solidFill>
                <a:latin typeface="Arial"/>
              </a:rPr>
              <a:t>Backend: NestJS
</a:t>
            </a:r>
            <a:r>
              <a:rPr sz="1300" b="0">
                <a:solidFill>
                  <a:srgbClr val="1E293B"/>
                </a:solidFill>
                <a:latin typeface="Arial"/>
              </a:rPr>
              <a:t>Node.js framework dengan arsitektur terstruktur untuk REST API.</a:t>
            </a:r>
          </a:p>
          <a:p>
            <a:pPr>
              <a:spcAft>
                <a:spcPts val="800"/>
              </a:spcAft>
            </a:pPr>
            <a:r>
              <a:rPr sz="1300" b="1">
                <a:solidFill>
                  <a:srgbClr val="1E293B"/>
                </a:solidFill>
                <a:latin typeface="Arial"/>
              </a:rPr>
              <a:t>Database: PostgreSQL
</a:t>
            </a:r>
            <a:r>
              <a:rPr sz="1300" b="0">
                <a:solidFill>
                  <a:srgbClr val="1E293B"/>
                </a:solidFill>
                <a:latin typeface="Arial"/>
              </a:rPr>
              <a:t>Database relasional tangguh (Supabase cloud hosting).</a:t>
            </a:r>
          </a:p>
          <a:p>
            <a:pPr>
              <a:spcAft>
                <a:spcPts val="800"/>
              </a:spcAft>
            </a:pPr>
            <a:r>
              <a:rPr sz="1300" b="1">
                <a:solidFill>
                  <a:srgbClr val="1E293B"/>
                </a:solidFill>
                <a:latin typeface="Arial"/>
              </a:rPr>
              <a:t>Penghubung Data: Prisma ORM
</a:t>
            </a:r>
            <a:r>
              <a:rPr sz="1300" b="0">
                <a:solidFill>
                  <a:srgbClr val="1E293B"/>
                </a:solidFill>
                <a:latin typeface="Arial"/>
              </a:rPr>
              <a:t>ORM modern sebagai jembatan tipe-data TypeScript antara NestJS dan PostgreSQL.</a:t>
            </a:r>
          </a:p>
        </p:txBody>
      </p:sp>
      <p:sp>
        <p:nvSpPr>
          <p:cNvPr id="7" name="Rounded Rectangle 6"/>
          <p:cNvSpPr/>
          <p:nvPr/>
        </p:nvSpPr>
        <p:spPr>
          <a:xfrm>
            <a:off x="6339535" y="1463040"/>
            <a:ext cx="5120640" cy="4572000"/>
          </a:xfrm>
          <a:prstGeom prst="roundRect">
            <a:avLst>
              <a:gd name="adj" fmla="val 5000"/>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645920"/>
            <a:ext cx="4572000" cy="4206240"/>
          </a:xfrm>
          <a:prstGeom prst="rect">
            <a:avLst/>
          </a:prstGeom>
          <a:noFill/>
        </p:spPr>
        <p:txBody>
          <a:bodyPr wrap="square">
            <a:spAutoFit/>
          </a:bodyPr>
          <a:lstStyle/>
          <a:p>
            <a:pPr>
              <a:spcAft>
                <a:spcPts val="1200"/>
              </a:spcAft>
              <a:defRPr sz="1800" b="1">
                <a:solidFill>
                  <a:srgbClr val="0F172A"/>
                </a:solidFill>
                <a:latin typeface="Arial"/>
              </a:defRPr>
            </a:pPr>
            <a:r>
              <a:t>Fitur Sistem Utama</a:t>
            </a:r>
          </a:p>
          <a:p>
            <a:pPr>
              <a:spcAft>
                <a:spcPts val="800"/>
              </a:spcAft>
            </a:pPr>
            <a:r>
              <a:rPr sz="1300" b="1">
                <a:solidFill>
                  <a:srgbClr val="1E293B"/>
                </a:solidFill>
                <a:latin typeface="Arial"/>
              </a:rPr>
              <a:t>1. Dashboard SPK: </a:t>
            </a:r>
            <a:r>
              <a:rPr sz="1300" b="0">
                <a:solidFill>
                  <a:srgbClr val="1E293B"/>
                </a:solidFill>
                <a:latin typeface="Arial"/>
              </a:rPr>
              <a:t>Ringkasan data supplier, grafik performa, dan daftar supplier terbaik.</a:t>
            </a:r>
          </a:p>
          <a:p>
            <a:pPr>
              <a:spcAft>
                <a:spcPts val="800"/>
              </a:spcAft>
            </a:pPr>
            <a:r>
              <a:rPr sz="1300" b="1">
                <a:solidFill>
                  <a:srgbClr val="1E293B"/>
                </a:solidFill>
                <a:latin typeface="Arial"/>
              </a:rPr>
              <a:t>2. Data Supplier (CRUD): </a:t>
            </a:r>
            <a:r>
              <a:rPr sz="1300" b="0">
                <a:solidFill>
                  <a:srgbClr val="1E293B"/>
                </a:solidFill>
                <a:latin typeface="Arial"/>
              </a:rPr>
              <a:t>Mengelola data supplier secara real-time (Tambah, Edit, Hapus).</a:t>
            </a:r>
          </a:p>
          <a:p>
            <a:pPr>
              <a:spcAft>
                <a:spcPts val="800"/>
              </a:spcAft>
            </a:pPr>
            <a:r>
              <a:rPr sz="1300" b="1">
                <a:solidFill>
                  <a:srgbClr val="1E293B"/>
                </a:solidFill>
                <a:latin typeface="Arial"/>
              </a:rPr>
              <a:t>3. Kriteria Penilaian: </a:t>
            </a:r>
            <a:r>
              <a:rPr sz="1300" b="0">
                <a:solidFill>
                  <a:srgbClr val="1E293B"/>
                </a:solidFill>
                <a:latin typeface="Arial"/>
              </a:rPr>
              <a:t>Menampilkan 5 kriteria beserta bobot dan jenisnya secara transparan.</a:t>
            </a:r>
          </a:p>
          <a:p>
            <a:pPr>
              <a:spcAft>
                <a:spcPts val="800"/>
              </a:spcAft>
            </a:pPr>
            <a:r>
              <a:rPr sz="1300" b="1">
                <a:solidFill>
                  <a:srgbClr val="1E293B"/>
                </a:solidFill>
                <a:latin typeface="Arial"/>
              </a:rPr>
              <a:t>4. Evaluasi SAW: </a:t>
            </a:r>
            <a:r>
              <a:rPr sz="1300" b="0">
                <a:solidFill>
                  <a:srgbClr val="1E293B"/>
                </a:solidFill>
                <a:latin typeface="Arial"/>
              </a:rPr>
              <a:t>Menjalankan kalkulasi SAW di backend REST API, lalu menampilkan ranking.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731520"/>
          </a:xfrm>
          <a:prstGeom prst="rect">
            <a:avLst/>
          </a:prstGeom>
          <a:noFill/>
        </p:spPr>
        <p:txBody>
          <a:bodyPr wrap="square" lIns="0" tIns="0" rIns="0" bIns="0">
            <a:spAutoFit/>
          </a:bodyPr>
          <a:lstStyle/>
          <a:p>
            <a:pPr>
              <a:defRPr sz="2800" b="1">
                <a:solidFill>
                  <a:srgbClr val="0F172A"/>
                </a:solidFill>
                <a:latin typeface="Arial"/>
              </a:defRPr>
            </a:pPr>
            <a:r>
              <a:t>Validasi Hasil Perhitungan: Manual vs Sistem</a:t>
            </a:r>
          </a:p>
        </p:txBody>
      </p:sp>
      <p:sp>
        <p:nvSpPr>
          <p:cNvPr id="4" name="Rectangle 3"/>
          <p:cNvSpPr/>
          <p:nvPr/>
        </p:nvSpPr>
        <p:spPr>
          <a:xfrm>
            <a:off x="731520" y="109728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731520" y="1645920"/>
          <a:ext cx="10728655" cy="329184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316175">
                  <a:extLst>
                    <a:ext uri="{9D8B030D-6E8A-4147-A177-3AD203B41FA5}">
                      <a16:colId xmlns:a16="http://schemas.microsoft.com/office/drawing/2014/main" val="20003"/>
                    </a:ext>
                  </a:extLst>
                </a:gridCol>
              </a:tblGrid>
              <a:tr h="548640">
                <a:tc>
                  <a:txBody>
                    <a:bodyPr/>
                    <a:lstStyle/>
                    <a:p>
                      <a:pPr algn="ctr">
                        <a:defRPr sz="1300" b="1">
                          <a:solidFill>
                            <a:srgbClr val="FFFFFF"/>
                          </a:solidFill>
                          <a:latin typeface="Arial"/>
                        </a:defRPr>
                      </a:pPr>
                      <a:r>
                        <a:t>Nama Supplier</a:t>
                      </a:r>
                    </a:p>
                  </a:txBody>
                  <a:tcPr>
                    <a:solidFill>
                      <a:srgbClr val="0B192C"/>
                    </a:solidFill>
                  </a:tcPr>
                </a:tc>
                <a:tc>
                  <a:txBody>
                    <a:bodyPr/>
                    <a:lstStyle/>
                    <a:p>
                      <a:pPr algn="ctr">
                        <a:defRPr sz="1300" b="1">
                          <a:solidFill>
                            <a:srgbClr val="FFFFFF"/>
                          </a:solidFill>
                          <a:latin typeface="Arial"/>
                        </a:defRPr>
                      </a:pPr>
                      <a:r>
                        <a:t>Skor Manual</a:t>
                      </a:r>
                    </a:p>
                  </a:txBody>
                  <a:tcPr>
                    <a:solidFill>
                      <a:srgbClr val="0B192C"/>
                    </a:solidFill>
                  </a:tcPr>
                </a:tc>
                <a:tc>
                  <a:txBody>
                    <a:bodyPr/>
                    <a:lstStyle/>
                    <a:p>
                      <a:pPr algn="ctr">
                        <a:defRPr sz="1300" b="1">
                          <a:solidFill>
                            <a:srgbClr val="FFFFFF"/>
                          </a:solidFill>
                          <a:latin typeface="Arial"/>
                        </a:defRPr>
                      </a:pPr>
                      <a:r>
                        <a:t>Skor Web</a:t>
                      </a:r>
                    </a:p>
                  </a:txBody>
                  <a:tcPr>
                    <a:solidFill>
                      <a:srgbClr val="0B192C"/>
                    </a:solidFill>
                  </a:tcPr>
                </a:tc>
                <a:tc>
                  <a:txBody>
                    <a:bodyPr/>
                    <a:lstStyle/>
                    <a:p>
                      <a:pPr algn="ctr">
                        <a:defRPr sz="1300" b="1">
                          <a:solidFill>
                            <a:srgbClr val="FFFFFF"/>
                          </a:solidFill>
                          <a:latin typeface="Arial"/>
                        </a:defRPr>
                      </a:pPr>
                      <a:r>
                        <a:t>Selisih</a:t>
                      </a:r>
                    </a:p>
                  </a:txBody>
                  <a:tcPr>
                    <a:solidFill>
                      <a:srgbClr val="0B192C"/>
                    </a:solidFill>
                  </a:tcPr>
                </a:tc>
                <a:extLst>
                  <a:ext uri="{0D108BD9-81ED-4DB2-BD59-A6C34878D82A}">
                    <a16:rowId xmlns:a16="http://schemas.microsoft.com/office/drawing/2014/main" val="10000"/>
                  </a:ext>
                </a:extLst>
              </a:tr>
              <a:tr h="548640">
                <a:tc>
                  <a:txBody>
                    <a:bodyPr/>
                    <a:lstStyle/>
                    <a:p>
                      <a:pPr algn="l">
                        <a:defRPr sz="1200">
                          <a:solidFill>
                            <a:srgbClr val="1E293B"/>
                          </a:solidFill>
                          <a:latin typeface="Arial"/>
                        </a:defRPr>
                      </a:pPr>
                      <a:r>
                        <a:t>Khatulistiwa Gadget Supply</a:t>
                      </a:r>
                    </a:p>
                  </a:txBody>
                  <a:tcPr>
                    <a:solidFill>
                      <a:srgbClr val="FFFFFF"/>
                    </a:solidFill>
                  </a:tcPr>
                </a:tc>
                <a:tc>
                  <a:txBody>
                    <a:bodyPr/>
                    <a:lstStyle/>
                    <a:p>
                      <a:pPr algn="ctr">
                        <a:defRPr sz="1200">
                          <a:solidFill>
                            <a:srgbClr val="1E293B"/>
                          </a:solidFill>
                          <a:latin typeface="Arial"/>
                        </a:defRPr>
                      </a:pPr>
                      <a:r>
                        <a:t>1.0142</a:t>
                      </a:r>
                    </a:p>
                  </a:txBody>
                  <a:tcPr>
                    <a:solidFill>
                      <a:srgbClr val="FFFFFF"/>
                    </a:solidFill>
                  </a:tcPr>
                </a:tc>
                <a:tc>
                  <a:txBody>
                    <a:bodyPr/>
                    <a:lstStyle/>
                    <a:p>
                      <a:pPr algn="ctr">
                        <a:defRPr sz="1200">
                          <a:solidFill>
                            <a:srgbClr val="1E293B"/>
                          </a:solidFill>
                          <a:latin typeface="Arial"/>
                        </a:defRPr>
                      </a:pPr>
                      <a:r>
                        <a:t>1.0142</a:t>
                      </a:r>
                    </a:p>
                  </a:txBody>
                  <a:tcPr>
                    <a:solidFill>
                      <a:srgbClr val="FFFFFF"/>
                    </a:solidFill>
                  </a:tcPr>
                </a:tc>
                <a:tc>
                  <a:txBody>
                    <a:bodyPr/>
                    <a:lstStyle/>
                    <a:p>
                      <a:pPr algn="ctr">
                        <a:defRPr sz="1200" b="1">
                          <a:solidFill>
                            <a:srgbClr val="2E7D32"/>
                          </a:solidFill>
                          <a:latin typeface="Arial"/>
                        </a:defRPr>
                      </a:pPr>
                      <a:r>
                        <a:t>0.0000</a:t>
                      </a:r>
                    </a:p>
                  </a:txBody>
                  <a:tcPr>
                    <a:solidFill>
                      <a:srgbClr val="FFFFFF"/>
                    </a:solidFill>
                  </a:tcPr>
                </a:tc>
                <a:extLst>
                  <a:ext uri="{0D108BD9-81ED-4DB2-BD59-A6C34878D82A}">
                    <a16:rowId xmlns:a16="http://schemas.microsoft.com/office/drawing/2014/main" val="10001"/>
                  </a:ext>
                </a:extLst>
              </a:tr>
              <a:tr h="548640">
                <a:tc>
                  <a:txBody>
                    <a:bodyPr/>
                    <a:lstStyle/>
                    <a:p>
                      <a:pPr algn="l">
                        <a:defRPr sz="1200">
                          <a:solidFill>
                            <a:srgbClr val="1E293B"/>
                          </a:solidFill>
                          <a:latin typeface="Arial"/>
                        </a:defRPr>
                      </a:pPr>
                      <a:r>
                        <a:t>Borneo Tech Distributor</a:t>
                      </a:r>
                    </a:p>
                  </a:txBody>
                  <a:tcPr>
                    <a:solidFill>
                      <a:srgbClr val="F0F4F8"/>
                    </a:solidFill>
                  </a:tcPr>
                </a:tc>
                <a:tc>
                  <a:txBody>
                    <a:bodyPr/>
                    <a:lstStyle/>
                    <a:p>
                      <a:pPr algn="ctr">
                        <a:defRPr sz="1200">
                          <a:solidFill>
                            <a:srgbClr val="1E293B"/>
                          </a:solidFill>
                          <a:latin typeface="Arial"/>
                        </a:defRPr>
                      </a:pPr>
                      <a:r>
                        <a:t>0.9677</a:t>
                      </a:r>
                    </a:p>
                  </a:txBody>
                  <a:tcPr>
                    <a:solidFill>
                      <a:srgbClr val="F0F4F8"/>
                    </a:solidFill>
                  </a:tcPr>
                </a:tc>
                <a:tc>
                  <a:txBody>
                    <a:bodyPr/>
                    <a:lstStyle/>
                    <a:p>
                      <a:pPr algn="ctr">
                        <a:defRPr sz="1200">
                          <a:solidFill>
                            <a:srgbClr val="1E293B"/>
                          </a:solidFill>
                          <a:latin typeface="Arial"/>
                        </a:defRPr>
                      </a:pPr>
                      <a:r>
                        <a:t>0.9677</a:t>
                      </a:r>
                    </a:p>
                  </a:txBody>
                  <a:tcPr>
                    <a:solidFill>
                      <a:srgbClr val="F0F4F8"/>
                    </a:solidFill>
                  </a:tcPr>
                </a:tc>
                <a:tc>
                  <a:txBody>
                    <a:bodyPr/>
                    <a:lstStyle/>
                    <a:p>
                      <a:pPr algn="ctr">
                        <a:defRPr sz="1200" b="1">
                          <a:solidFill>
                            <a:srgbClr val="2E7D32"/>
                          </a:solidFill>
                          <a:latin typeface="Arial"/>
                        </a:defRPr>
                      </a:pPr>
                      <a:r>
                        <a:t>0.0000</a:t>
                      </a:r>
                    </a:p>
                  </a:txBody>
                  <a:tcPr>
                    <a:solidFill>
                      <a:srgbClr val="F0F4F8"/>
                    </a:solidFill>
                  </a:tcPr>
                </a:tc>
                <a:extLst>
                  <a:ext uri="{0D108BD9-81ED-4DB2-BD59-A6C34878D82A}">
                    <a16:rowId xmlns:a16="http://schemas.microsoft.com/office/drawing/2014/main" val="10002"/>
                  </a:ext>
                </a:extLst>
              </a:tr>
              <a:tr h="548640">
                <a:tc>
                  <a:txBody>
                    <a:bodyPr/>
                    <a:lstStyle/>
                    <a:p>
                      <a:pPr algn="l">
                        <a:defRPr sz="1200">
                          <a:solidFill>
                            <a:srgbClr val="1E293B"/>
                          </a:solidFill>
                          <a:latin typeface="Arial"/>
                        </a:defRPr>
                      </a:pPr>
                      <a:r>
                        <a:t>JBL Audio Partner</a:t>
                      </a:r>
                    </a:p>
                  </a:txBody>
                  <a:tcPr>
                    <a:solidFill>
                      <a:srgbClr val="FFFFFF"/>
                    </a:solidFill>
                  </a:tcPr>
                </a:tc>
                <a:tc>
                  <a:txBody>
                    <a:bodyPr/>
                    <a:lstStyle/>
                    <a:p>
                      <a:pPr algn="ctr">
                        <a:defRPr sz="1200">
                          <a:solidFill>
                            <a:srgbClr val="1E293B"/>
                          </a:solidFill>
                          <a:latin typeface="Arial"/>
                        </a:defRPr>
                      </a:pPr>
                      <a:r>
                        <a:t>0.9642</a:t>
                      </a:r>
                    </a:p>
                  </a:txBody>
                  <a:tcPr>
                    <a:solidFill>
                      <a:srgbClr val="FFFFFF"/>
                    </a:solidFill>
                  </a:tcPr>
                </a:tc>
                <a:tc>
                  <a:txBody>
                    <a:bodyPr/>
                    <a:lstStyle/>
                    <a:p>
                      <a:pPr algn="ctr">
                        <a:defRPr sz="1200">
                          <a:solidFill>
                            <a:srgbClr val="1E293B"/>
                          </a:solidFill>
                          <a:latin typeface="Arial"/>
                        </a:defRPr>
                      </a:pPr>
                      <a:r>
                        <a:t>0.9642</a:t>
                      </a:r>
                    </a:p>
                  </a:txBody>
                  <a:tcPr>
                    <a:solidFill>
                      <a:srgbClr val="FFFFFF"/>
                    </a:solidFill>
                  </a:tcPr>
                </a:tc>
                <a:tc>
                  <a:txBody>
                    <a:bodyPr/>
                    <a:lstStyle/>
                    <a:p>
                      <a:pPr algn="ctr">
                        <a:defRPr sz="1200" b="1">
                          <a:solidFill>
                            <a:srgbClr val="2E7D32"/>
                          </a:solidFill>
                          <a:latin typeface="Arial"/>
                        </a:defRPr>
                      </a:pPr>
                      <a:r>
                        <a:t>0.0000</a:t>
                      </a:r>
                    </a:p>
                  </a:txBody>
                  <a:tcPr>
                    <a:solidFill>
                      <a:srgbClr val="FFFFFF"/>
                    </a:solidFill>
                  </a:tcPr>
                </a:tc>
                <a:extLst>
                  <a:ext uri="{0D108BD9-81ED-4DB2-BD59-A6C34878D82A}">
                    <a16:rowId xmlns:a16="http://schemas.microsoft.com/office/drawing/2014/main" val="10003"/>
                  </a:ext>
                </a:extLst>
              </a:tr>
              <a:tr h="548640">
                <a:tc>
                  <a:txBody>
                    <a:bodyPr/>
                    <a:lstStyle/>
                    <a:p>
                      <a:pPr algn="l">
                        <a:defRPr sz="1200">
                          <a:solidFill>
                            <a:srgbClr val="1E293B"/>
                          </a:solidFill>
                          <a:latin typeface="Arial"/>
                        </a:defRPr>
                      </a:pPr>
                      <a:r>
                        <a:t>Mega Jaya Cellular</a:t>
                      </a:r>
                    </a:p>
                  </a:txBody>
                  <a:tcPr>
                    <a:solidFill>
                      <a:srgbClr val="F0F4F8"/>
                    </a:solidFill>
                  </a:tcPr>
                </a:tc>
                <a:tc>
                  <a:txBody>
                    <a:bodyPr/>
                    <a:lstStyle/>
                    <a:p>
                      <a:pPr algn="ctr">
                        <a:defRPr sz="1200">
                          <a:solidFill>
                            <a:srgbClr val="1E293B"/>
                          </a:solidFill>
                          <a:latin typeface="Arial"/>
                        </a:defRPr>
                      </a:pPr>
                      <a:r>
                        <a:t>0.9421</a:t>
                      </a:r>
                    </a:p>
                  </a:txBody>
                  <a:tcPr>
                    <a:solidFill>
                      <a:srgbClr val="F0F4F8"/>
                    </a:solidFill>
                  </a:tcPr>
                </a:tc>
                <a:tc>
                  <a:txBody>
                    <a:bodyPr/>
                    <a:lstStyle/>
                    <a:p>
                      <a:pPr algn="ctr">
                        <a:defRPr sz="1200">
                          <a:solidFill>
                            <a:srgbClr val="1E293B"/>
                          </a:solidFill>
                          <a:latin typeface="Arial"/>
                        </a:defRPr>
                      </a:pPr>
                      <a:r>
                        <a:t>0.9421</a:t>
                      </a:r>
                    </a:p>
                  </a:txBody>
                  <a:tcPr>
                    <a:solidFill>
                      <a:srgbClr val="F0F4F8"/>
                    </a:solidFill>
                  </a:tcPr>
                </a:tc>
                <a:tc>
                  <a:txBody>
                    <a:bodyPr/>
                    <a:lstStyle/>
                    <a:p>
                      <a:pPr algn="ctr">
                        <a:defRPr sz="1200" b="1">
                          <a:solidFill>
                            <a:srgbClr val="2E7D32"/>
                          </a:solidFill>
                          <a:latin typeface="Arial"/>
                        </a:defRPr>
                      </a:pPr>
                      <a:r>
                        <a:t>0.0000</a:t>
                      </a:r>
                    </a:p>
                  </a:txBody>
                  <a:tcPr>
                    <a:solidFill>
                      <a:srgbClr val="F0F4F8"/>
                    </a:solidFill>
                  </a:tcPr>
                </a:tc>
                <a:extLst>
                  <a:ext uri="{0D108BD9-81ED-4DB2-BD59-A6C34878D82A}">
                    <a16:rowId xmlns:a16="http://schemas.microsoft.com/office/drawing/2014/main" val="10004"/>
                  </a:ext>
                </a:extLst>
              </a:tr>
              <a:tr h="548640">
                <a:tc>
                  <a:txBody>
                    <a:bodyPr/>
                    <a:lstStyle/>
                    <a:p>
                      <a:pPr algn="l">
                        <a:defRPr sz="1200">
                          <a:solidFill>
                            <a:srgbClr val="1E293B"/>
                          </a:solidFill>
                          <a:latin typeface="Arial"/>
                        </a:defRPr>
                      </a:pPr>
                      <a:r>
                        <a:t>Pontianak Mobile Grosir</a:t>
                      </a:r>
                    </a:p>
                  </a:txBody>
                  <a:tcPr>
                    <a:solidFill>
                      <a:srgbClr val="FFFFFF"/>
                    </a:solidFill>
                  </a:tcPr>
                </a:tc>
                <a:tc>
                  <a:txBody>
                    <a:bodyPr/>
                    <a:lstStyle/>
                    <a:p>
                      <a:pPr algn="ctr">
                        <a:defRPr sz="1200">
                          <a:solidFill>
                            <a:srgbClr val="1E293B"/>
                          </a:solidFill>
                          <a:latin typeface="Arial"/>
                        </a:defRPr>
                      </a:pPr>
                      <a:r>
                        <a:t>0.9358</a:t>
                      </a:r>
                    </a:p>
                  </a:txBody>
                  <a:tcPr>
                    <a:solidFill>
                      <a:srgbClr val="FFFFFF"/>
                    </a:solidFill>
                  </a:tcPr>
                </a:tc>
                <a:tc>
                  <a:txBody>
                    <a:bodyPr/>
                    <a:lstStyle/>
                    <a:p>
                      <a:pPr algn="ctr">
                        <a:defRPr sz="1200">
                          <a:solidFill>
                            <a:srgbClr val="1E293B"/>
                          </a:solidFill>
                          <a:latin typeface="Arial"/>
                        </a:defRPr>
                      </a:pPr>
                      <a:r>
                        <a:t>0.9358</a:t>
                      </a:r>
                    </a:p>
                  </a:txBody>
                  <a:tcPr>
                    <a:solidFill>
                      <a:srgbClr val="FFFFFF"/>
                    </a:solidFill>
                  </a:tcPr>
                </a:tc>
                <a:tc>
                  <a:txBody>
                    <a:bodyPr/>
                    <a:lstStyle/>
                    <a:p>
                      <a:pPr algn="ctr">
                        <a:defRPr sz="1200" b="1">
                          <a:solidFill>
                            <a:srgbClr val="2E7D32"/>
                          </a:solidFill>
                          <a:latin typeface="Arial"/>
                        </a:defRPr>
                      </a:pPr>
                      <a:r>
                        <a:t>0.0000</a:t>
                      </a:r>
                    </a:p>
                  </a:txBody>
                  <a:tcPr>
                    <a:solidFill>
                      <a:srgbClr val="FFFFFF"/>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731520" y="5120640"/>
            <a:ext cx="10728655" cy="1188720"/>
          </a:xfrm>
          <a:prstGeom prst="roundRect">
            <a:avLst>
              <a:gd name="adj" fmla="val 5000"/>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5257800"/>
            <a:ext cx="10180015" cy="914400"/>
          </a:xfrm>
          <a:prstGeom prst="rect">
            <a:avLst/>
          </a:prstGeom>
          <a:noFill/>
        </p:spPr>
        <p:txBody>
          <a:bodyPr wrap="square">
            <a:spAutoFit/>
          </a:bodyPr>
          <a:lstStyle/>
          <a:p>
            <a:pPr>
              <a:spcAft>
                <a:spcPts val="400"/>
              </a:spcAft>
              <a:defRPr sz="1400" b="1">
                <a:solidFill>
                  <a:srgbClr val="0F172A"/>
                </a:solidFill>
                <a:latin typeface="Arial"/>
              </a:defRPr>
            </a:pPr>
            <a:r>
              <a:t>Hasil Pengujian &amp; Validasi:</a:t>
            </a:r>
          </a:p>
          <a:p>
            <a:pPr>
              <a:defRPr sz="1200">
                <a:solidFill>
                  <a:srgbClr val="1E293B"/>
                </a:solidFill>
                <a:latin typeface="Arial"/>
              </a:defRPr>
            </a:pPr>
            <a:r>
              <a:t>Selisih skor akhir antara hitungan manual dan kalkulasi sistem web adalah 0.0000 pada kelima alternatif. Hal ini membuktikan bahwa algoritma SAW telah diimplementasikan dengan sangat tepat di backend REST API NestJS dan bebas dari kesalahan logika.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731520"/>
          </a:xfrm>
          <a:prstGeom prst="rect">
            <a:avLst/>
          </a:prstGeom>
          <a:noFill/>
        </p:spPr>
        <p:txBody>
          <a:bodyPr wrap="square" lIns="0" tIns="0" rIns="0" bIns="0">
            <a:spAutoFit/>
          </a:bodyPr>
          <a:lstStyle/>
          <a:p>
            <a:pPr>
              <a:defRPr sz="2800" b="1">
                <a:solidFill>
                  <a:srgbClr val="0F172A"/>
                </a:solidFill>
                <a:latin typeface="Arial"/>
              </a:defRPr>
            </a:pPr>
            <a:r>
              <a:t>Kesimpulan &amp; Future Works</a:t>
            </a:r>
          </a:p>
        </p:txBody>
      </p:sp>
      <p:sp>
        <p:nvSpPr>
          <p:cNvPr id="4" name="Rectangle 3"/>
          <p:cNvSpPr/>
          <p:nvPr/>
        </p:nvSpPr>
        <p:spPr>
          <a:xfrm>
            <a:off x="731520" y="109728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63040"/>
            <a:ext cx="5120640" cy="4572000"/>
          </a:xfrm>
          <a:prstGeom prst="roundRect">
            <a:avLst>
              <a:gd name="adj" fmla="val 5000"/>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737360"/>
            <a:ext cx="4572000" cy="4023360"/>
          </a:xfrm>
          <a:prstGeom prst="rect">
            <a:avLst/>
          </a:prstGeom>
          <a:noFill/>
        </p:spPr>
        <p:txBody>
          <a:bodyPr wrap="square">
            <a:spAutoFit/>
          </a:bodyPr>
          <a:lstStyle/>
          <a:p>
            <a:pPr>
              <a:spcAft>
                <a:spcPts val="1400"/>
              </a:spcAft>
              <a:defRPr sz="1800" b="1">
                <a:solidFill>
                  <a:srgbClr val="0F172A"/>
                </a:solidFill>
                <a:latin typeface="Arial"/>
              </a:defRPr>
            </a:pPr>
            <a:r>
              <a:t>Kesimpulan</a:t>
            </a:r>
          </a:p>
          <a:p>
            <a:pPr>
              <a:spcAft>
                <a:spcPts val="800"/>
              </a:spcAft>
            </a:pPr>
            <a:r>
              <a:rPr sz="1400" b="0">
                <a:solidFill>
                  <a:srgbClr val="1E293B"/>
                </a:solidFill>
                <a:latin typeface="Arial"/>
              </a:rPr>
              <a:t>Metode SAW berhasil diterapkan untuk membantu CV Anugerah Mega Makmur memilih supplier secara lebih objektif dan terukur.</a:t>
            </a:r>
          </a:p>
          <a:p>
            <a:pPr>
              <a:spcAft>
                <a:spcPts val="800"/>
              </a:spcAft>
            </a:pPr>
            <a:r>
              <a:rPr sz="1400" b="0">
                <a:solidFill>
                  <a:srgbClr val="1E293B"/>
                </a:solidFill>
                <a:latin typeface="Arial"/>
              </a:rPr>
              <a:t>Kriteria Harga (C1) dan Kualitas (C2) merupakan faktor terpenting dengan bobot masing-masing 30%.</a:t>
            </a:r>
          </a:p>
          <a:p>
            <a:pPr>
              <a:spcAft>
                <a:spcPts val="800"/>
              </a:spcAft>
            </a:pPr>
            <a:r>
              <a:rPr sz="1400" b="0">
                <a:solidFill>
                  <a:srgbClr val="1E293B"/>
                </a:solidFill>
                <a:latin typeface="Arial"/>
              </a:rPr>
              <a:t>Aplikasi berbasis web yang dibangun terbukti fungsional dengan keakuratan kalkulasi 100% (selisih 0.0000 dibanding manual).</a:t>
            </a:r>
          </a:p>
        </p:txBody>
      </p:sp>
      <p:sp>
        <p:nvSpPr>
          <p:cNvPr id="7" name="Rounded Rectangle 6"/>
          <p:cNvSpPr/>
          <p:nvPr/>
        </p:nvSpPr>
        <p:spPr>
          <a:xfrm>
            <a:off x="6339535" y="1463040"/>
            <a:ext cx="5120640" cy="4572000"/>
          </a:xfrm>
          <a:prstGeom prst="roundRect">
            <a:avLst>
              <a:gd name="adj" fmla="val 5000"/>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3855" y="1737360"/>
            <a:ext cx="4572000" cy="4023360"/>
          </a:xfrm>
          <a:prstGeom prst="rect">
            <a:avLst/>
          </a:prstGeom>
          <a:noFill/>
        </p:spPr>
        <p:txBody>
          <a:bodyPr wrap="square">
            <a:spAutoFit/>
          </a:bodyPr>
          <a:lstStyle/>
          <a:p>
            <a:pPr>
              <a:spcAft>
                <a:spcPts val="1400"/>
              </a:spcAft>
              <a:defRPr sz="1800" b="1">
                <a:solidFill>
                  <a:srgbClr val="0F172A"/>
                </a:solidFill>
                <a:latin typeface="Arial"/>
              </a:defRPr>
            </a:pPr>
            <a:r>
              <a:t>Saran &amp; Pengembangan (Future Works)</a:t>
            </a:r>
          </a:p>
          <a:p>
            <a:pPr>
              <a:spcAft>
                <a:spcPts val="800"/>
              </a:spcAft>
            </a:pPr>
            <a:r>
              <a:rPr sz="1400" b="0">
                <a:solidFill>
                  <a:srgbClr val="1E293B"/>
                </a:solidFill>
                <a:latin typeface="Arial"/>
              </a:rPr>
              <a:t>Penambahan kriteria kualitatif lain seperti garansi produk, reputasi supplier, dan lama kerja sama.</a:t>
            </a:r>
          </a:p>
          <a:p>
            <a:pPr>
              <a:spcAft>
                <a:spcPts val="800"/>
              </a:spcAft>
            </a:pPr>
            <a:r>
              <a:rPr sz="1400" b="0">
                <a:solidFill>
                  <a:srgbClr val="1E293B"/>
                </a:solidFill>
                <a:latin typeface="Arial"/>
              </a:rPr>
              <a:t>Integrasi langsung dengan modul data pembelian gudang dan data transaksi penjualan retail.</a:t>
            </a:r>
          </a:p>
          <a:p>
            <a:pPr>
              <a:spcAft>
                <a:spcPts val="800"/>
              </a:spcAft>
            </a:pPr>
            <a:r>
              <a:rPr sz="1400" b="0">
                <a:solidFill>
                  <a:srgbClr val="1E293B"/>
                </a:solidFill>
                <a:latin typeface="Arial"/>
              </a:rPr>
              <a:t>Menambahkan fitur ekspor laporan ke PDF/Excel dan fitur kustomisasi bobot kriteria secara dinamis dari dashboard admin.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92C"/>
        </a:solidFill>
        <a:effectLst/>
      </p:bgPr>
    </p:bg>
    <p:spTree>
      <p:nvGrpSpPr>
        <p:cNvPr id="1" name=""/>
        <p:cNvGrpSpPr/>
        <p:nvPr/>
      </p:nvGrpSpPr>
      <p:grpSpPr>
        <a:xfrm>
          <a:off x="0" y="0"/>
          <a:ext cx="0" cy="0"/>
          <a:chOff x="0" y="0"/>
          <a:chExt cx="0" cy="0"/>
        </a:xfrm>
      </p:grpSpPr>
      <p:sp>
        <p:nvSpPr>
          <p:cNvPr id="2" name="Rectangle 1"/>
          <p:cNvSpPr/>
          <p:nvPr/>
        </p:nvSpPr>
        <p:spPr>
          <a:xfrm>
            <a:off x="0" y="219808"/>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399" y="3065814"/>
            <a:ext cx="10362895" cy="800219"/>
          </a:xfrm>
          <a:prstGeom prst="rect">
            <a:avLst/>
          </a:prstGeom>
          <a:noFill/>
        </p:spPr>
        <p:txBody>
          <a:bodyPr wrap="square">
            <a:spAutoFit/>
          </a:bodyPr>
          <a:lstStyle/>
          <a:p>
            <a:pPr algn="ctr">
              <a:defRPr sz="4600" b="1">
                <a:solidFill>
                  <a:srgbClr val="FFFFFF"/>
                </a:solidFill>
                <a:latin typeface="Arial"/>
              </a:defRPr>
            </a:pPr>
            <a:r>
              <a:rPr lang="en-US" dirty="0"/>
              <a:t>APAKAH ADA PERTANYAAN?</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92C"/>
        </a:solidFill>
        <a:effectLst/>
      </p:bgPr>
    </p:bg>
    <p:spTree>
      <p:nvGrpSpPr>
        <p:cNvPr id="1" name="">
          <a:extLst>
            <a:ext uri="{FF2B5EF4-FFF2-40B4-BE49-F238E27FC236}">
              <a16:creationId xmlns:a16="http://schemas.microsoft.com/office/drawing/2014/main" id="{B946E75C-ABDA-D278-5F8B-C2CA703F9D5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47E944A-FE51-0749-93DE-A790559B2A61}"/>
              </a:ext>
            </a:extLst>
          </p:cNvPr>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4778D58A-4CAC-780C-D58C-2A944BA1ED63}"/>
              </a:ext>
            </a:extLst>
          </p:cNvPr>
          <p:cNvSpPr txBox="1"/>
          <p:nvPr/>
        </p:nvSpPr>
        <p:spPr>
          <a:xfrm>
            <a:off x="914400" y="3028890"/>
            <a:ext cx="10362895" cy="800219"/>
          </a:xfrm>
          <a:prstGeom prst="rect">
            <a:avLst/>
          </a:prstGeom>
          <a:noFill/>
        </p:spPr>
        <p:txBody>
          <a:bodyPr wrap="square">
            <a:spAutoFit/>
          </a:bodyPr>
          <a:lstStyle/>
          <a:p>
            <a:pPr algn="ctr">
              <a:defRPr sz="4600" b="1">
                <a:solidFill>
                  <a:srgbClr val="FFFFFF"/>
                </a:solidFill>
                <a:latin typeface="Arial"/>
              </a:defRPr>
            </a:pPr>
            <a:r>
              <a:rPr dirty="0"/>
              <a:t>TERIMA KASIH</a:t>
            </a:r>
          </a:p>
        </p:txBody>
      </p:sp>
    </p:spTree>
    <p:extLst>
      <p:ext uri="{BB962C8B-B14F-4D97-AF65-F5344CB8AC3E}">
        <p14:creationId xmlns:p14="http://schemas.microsoft.com/office/powerpoint/2010/main" val="13390950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TotalTime>
  <Words>1260</Words>
  <Application>Microsoft Office PowerPoint</Application>
  <PresentationFormat>Widescreen</PresentationFormat>
  <Paragraphs>236</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 Narrow</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Jackson 🥵</cp:lastModifiedBy>
  <cp:revision>2</cp:revision>
  <dcterms:created xsi:type="dcterms:W3CDTF">2013-01-27T09:14:16Z</dcterms:created>
  <dcterms:modified xsi:type="dcterms:W3CDTF">2026-06-05T17:23:03Z</dcterms:modified>
  <cp:category/>
</cp:coreProperties>
</file>